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panel. My name is Oluwadamilola Oladejo. My final year project is an intelligent traffic light system that uses deep reinforcement learning to control signals adaptively, using one of the busiest junctions in Ikeja, Lagos, as a case study. Over the next ten minutes I will cover the problem, my approach, my results, and the honest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Lagos is consistently ranked among the world's worst cities for traffic. Beyond the daily frustration, congestion has huge economic, environmental and health costs. A key reason is that most signals here are fixed-time — they run on timers and cannot react to actual traffic. Meanwhile, AI and reinforcement learning have matured enough to offer a smarter, adaptive alternative. That is the opportunity this project explores.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simple: a fixed timer is blind. It gives the same green whether a road is empty or jammed. This wastes time off-peak and makes jams worse at peak, and it cannot prioritise an ambulance. The need, therefore, is an adaptive controller that decides from live conditions — and ideally one that can run on low-cost hardware.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was to model and evaluate an adaptive, RL-based traffic light system. I broke this into five objectives: review the field; design the state and reward; implement a DQN controller; build a realistic SUMO model of a real junction; and integrate YOLO-based vehicle detection so the same controller can run on a camera feed.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guided the work. First — does RL actually beat a fixed timer at a real junction? Second — and more demanding — how does it compare against a Webster-optimised timer and an actuated controller, not just a naive one? Third — does it generalise rather than memorise? And fourth — where exactly is it worth using? I made a point of answering the last two honestly.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Classical control spans fixed-time, Webster-optimised timing, and actuated control. On the AI side, DQN and pressure-based methods like PressLight and PDLight are state of the art. But most RL papers test on synthetic grids and compare only against weak fixed timers. The gap I target is a rigorous, honest evaluation on a real, validated Lagos junction, against strong baselines, using a delay metric that reflects real driver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method combines three things. SUMO, a microscopic simulator, provides the training environment via the TraCI interface. The junction is a real one in Ikeja, exported from OpenStreetMap and corrected against satellite imagery. YOLO provides vehicle detection for live use. The controller is a Double DQN with prioritised replay. As the diagram shows, the camera or simulator produces a state, the DQN chooses a phase, and that drives the signal — a closed feedback loop. I compare against three baselines, including the strong 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design: the agent observes 14 numbers — queue, accumulated waiting time and density for each approach, plus the current phase. Its action is which phase to make green. The reward penalises queues and accumulated delay, with a small penalty for switching to avoid unsafe flicker. Learning uses standard DQN machinery. The whole thing is built in Python with PyTorch, YOLO and SUMO, and is designed to deploy on a Raspberry Pi driving real lights through its GPIO pins.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headline results on the two-phase signal. The chart shows queue, accumulated delay and throughput for each controller under rush-hour demand. The DQN — the green bar — has the lowest queue and delay and the highest throughput. Against the naive timer it cuts delay by 69 percent, against an optimised Webster timer by 60 percent, and against a competent actuated controller by 76 percent. Crucially it wins on all demand patterns, not just this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honesty and nuance. The chart compares the DQN against the actuated controller for both signal types. On two-phase signals — the green bars — the DQN wins everywhere. On four-phase protected signals — the amber bars — it still beats fixed-time and Webster, but the actuated controller is better. I even implemented the state-of-the-art PressLight and PDLight methods, and they did not beat actuated at a single junction either. That matches the literature, which says their advantage appears across coordinated networks. Reporting this boundary makes the result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it work? Because the agent reacts to the live state and never wastes green on an empty road. Its gains are biggest exactly where fixed timers struggle — imbalanced, variable demand. Where demand is balanced or the signal is a saturated four-phase one, the simple actuated rule is already near-optimal. All of this is consistent with traffic theory, and it gives a clear deployment message: use RL on two-phase junctions under heavy, imbalanced peak demand, which is exactly the Lagos case.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technical challenge was a policy collapse: the agent learned to serve only one approach and starve the other. I traced this to a subtle flaw — the reward penalised accumulated delay, but the state only showed instantaneous delay, so the agent was punished for something it could not see. Exposing accumulated delay in the state fixed it. Honest limitations: it is simulation-based with estimated demand; it is a single junction; actuated wins on four-phase; and I have not yet measured YOLO's accuracy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on conventional two-phase control my agent reduced accumulated delay by between 16 and 76 percent against fixed-time, Webster and actuated baselines, on every demand pattern. On four-phase control it beat the fixed timers, while actuated remained best. Its advantage is responsiveness. The clear, honest takeaway is that reinforcement learning is most valuable for two-phase junctions under the heavy, imbalanced demand that defines Lagos rush hour.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work: first, use my own YOLO module on real footage to replace estimated demand with measured counts. Second, extend to a corridor of signals, where pressure-based RL should finally beat actuated. Third, add a throughput term to the reward. Fourth, harden the vision for motorcycles and tricycles. Fifth, run a supervised hardware pilot. And finally, complete emergency-vehicle priority, which directly addresses the original problem.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references in APA format: the SUMO simulator, the original DQN paper by Mnih and colleagues, Sutton and Barto's reinforcement-learning textbook, Webster's classical signal-timing method, and the two state-of-the-art methods I implemented, PressLight and PDLight.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take any questions, and I would be glad to walk through the live simulation, the training curves, or the diagnostic finding in more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2011680"/>
          </a:xfrm>
          <a:prstGeom prst="rect">
            <a:avLst/>
          </a:prstGeom>
          <a:noFill/>
        </p:spPr>
        <p:txBody>
          <a:bodyPr wrap="square" anchor="t">
            <a:spAutoFit/>
          </a:bodyPr>
          <a:lstStyle/>
          <a:p>
            <a:pPr algn="ctr"/>
            <a:r>
              <a:rPr sz="4000" b="1" i="0">
                <a:solidFill>
                  <a:srgbClr val="FFFFFF"/>
                </a:solidFill>
                <a:latin typeface="Calibri"/>
              </a:rPr>
              <a:t>An Intelligent Traffic Light System for Urban Intersections Using Deep Reinforcement Learning</a:t>
            </a:r>
          </a:p>
        </p:txBody>
      </p:sp>
      <p:sp>
        <p:nvSpPr>
          <p:cNvPr id="5" name="TextBox 4"/>
          <p:cNvSpPr txBox="1"/>
          <p:nvPr/>
        </p:nvSpPr>
        <p:spPr>
          <a:xfrm>
            <a:off x="731520" y="3200400"/>
            <a:ext cx="10698480" cy="822960"/>
          </a:xfrm>
          <a:prstGeom prst="rect">
            <a:avLst/>
          </a:prstGeom>
          <a:noFill/>
        </p:spPr>
        <p:txBody>
          <a:bodyPr wrap="square" anchor="t">
            <a:spAutoFit/>
          </a:bodyPr>
          <a:lstStyle/>
          <a:p>
            <a:pPr algn="ctr"/>
            <a:r>
              <a:rPr sz="2400" b="0" i="1">
                <a:solidFill>
                  <a:srgbClr val="9FB4E0"/>
                </a:solidFill>
                <a:latin typeface="Calibri"/>
              </a:rPr>
              <a:t>A Case Study of Lagos Traffic</a:t>
            </a:r>
          </a:p>
        </p:txBody>
      </p:sp>
      <p:sp>
        <p:nvSpPr>
          <p:cNvPr id="6" name="TextBox 5"/>
          <p:cNvSpPr txBox="1"/>
          <p:nvPr/>
        </p:nvSpPr>
        <p:spPr>
          <a:xfrm>
            <a:off x="731520" y="4389120"/>
            <a:ext cx="10698480" cy="548640"/>
          </a:xfrm>
          <a:prstGeom prst="rect">
            <a:avLst/>
          </a:prstGeom>
          <a:noFill/>
        </p:spPr>
        <p:txBody>
          <a:bodyPr wrap="square" anchor="t">
            <a:spAutoFit/>
          </a:bodyPr>
          <a:lstStyle/>
          <a:p>
            <a:pPr algn="ctr"/>
            <a:r>
              <a:rPr sz="2000" b="1" i="0">
                <a:solidFill>
                  <a:srgbClr val="FFFFFF"/>
                </a:solidFill>
                <a:latin typeface="Calibri"/>
              </a:rPr>
              <a:t>Oluwadamilola Samson Oladejo   |   21120612543</a:t>
            </a:r>
          </a:p>
        </p:txBody>
      </p:sp>
      <p:sp>
        <p:nvSpPr>
          <p:cNvPr id="7" name="TextBox 6"/>
          <p:cNvSpPr txBox="1"/>
          <p:nvPr/>
        </p:nvSpPr>
        <p:spPr>
          <a:xfrm>
            <a:off x="731520" y="4937760"/>
            <a:ext cx="10698480" cy="1280160"/>
          </a:xfrm>
          <a:prstGeom prst="rect">
            <a:avLst/>
          </a:prstGeom>
          <a:noFill/>
        </p:spPr>
        <p:txBody>
          <a:bodyPr wrap="square" anchor="t">
            <a:spAutoFit/>
          </a:bodyPr>
          <a:lstStyle/>
          <a:p>
            <a:pPr algn="ctr"/>
            <a:r>
              <a:rPr sz="1600" b="0" i="0">
                <a:solidFill>
                  <a:srgbClr val="D7DEF0"/>
                </a:solidFill>
                <a:latin typeface="Calibri"/>
              </a:rPr>
              <a:t>Computer and Information Sciences Department
School of Science and Technology, Pan-Atlantic University
Supervisor: [Supervisor's Name]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Introduction — Background</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2</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371600"/>
            <a:ext cx="11064240" cy="4572000"/>
          </a:xfrm>
          <a:prstGeom prst="rect">
            <a:avLst/>
          </a:prstGeom>
          <a:noFill/>
        </p:spPr>
        <p:txBody>
          <a:bodyPr wrap="square">
            <a:spAutoFit/>
          </a:bodyPr>
          <a:lstStyle/>
          <a:p>
            <a:pPr>
              <a:spcAft>
                <a:spcPts val="800"/>
              </a:spcAft>
            </a:pPr>
            <a:r>
              <a:rPr sz="2000">
                <a:solidFill>
                  <a:srgbClr val="222A33"/>
                </a:solidFill>
                <a:latin typeface="Calibri"/>
              </a:rPr>
              <a:t>•  Lagos is ranked among the most traffic-congested cities in the world (traffic index ~354).</a:t>
            </a:r>
          </a:p>
          <a:p>
            <a:pPr>
              <a:spcAft>
                <a:spcPts val="800"/>
              </a:spcAft>
            </a:pPr>
            <a:r>
              <a:rPr sz="2000">
                <a:solidFill>
                  <a:srgbClr val="222A33"/>
                </a:solidFill>
                <a:latin typeface="Calibri"/>
              </a:rPr>
              <a:t>•  Commuters lose several hours daily; congestion costs the economy an estimated ₦4 trillion/year.</a:t>
            </a:r>
          </a:p>
          <a:p>
            <a:pPr>
              <a:spcAft>
                <a:spcPts val="800"/>
              </a:spcAft>
            </a:pPr>
            <a:r>
              <a:rPr sz="2000">
                <a:solidFill>
                  <a:srgbClr val="222A33"/>
                </a:solidFill>
                <a:latin typeface="Calibri"/>
              </a:rPr>
              <a:t>•  Congestion also raises fuel use, emissions and air pollution across the city.</a:t>
            </a:r>
          </a:p>
          <a:p>
            <a:pPr>
              <a:spcAft>
                <a:spcPts val="800"/>
              </a:spcAft>
            </a:pPr>
            <a:r>
              <a:rPr sz="2000">
                <a:solidFill>
                  <a:srgbClr val="222A33"/>
                </a:solidFill>
                <a:latin typeface="Calibri"/>
              </a:rPr>
              <a:t>•  Most Lagos junctions run on FIXED-TIME signals — pre-set timers that ignore live traffic.</a:t>
            </a:r>
          </a:p>
          <a:p>
            <a:pPr>
              <a:spcAft>
                <a:spcPts val="800"/>
              </a:spcAft>
            </a:pPr>
            <a:r>
              <a:rPr sz="2000">
                <a:solidFill>
                  <a:srgbClr val="222A33"/>
                </a:solidFill>
                <a:latin typeface="Calibri"/>
              </a:rPr>
              <a:t>•  Advances in AI and reinforcement learning create an opportunity for adaptive signal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Problem Statement</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3</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463040"/>
            <a:ext cx="11064240" cy="4114800"/>
          </a:xfrm>
          <a:prstGeom prst="rect">
            <a:avLst/>
          </a:prstGeom>
          <a:noFill/>
        </p:spPr>
        <p:txBody>
          <a:bodyPr wrap="square">
            <a:spAutoFit/>
          </a:bodyPr>
          <a:lstStyle/>
          <a:p>
            <a:pPr>
              <a:spcAft>
                <a:spcPts val="800"/>
              </a:spcAft>
            </a:pPr>
            <a:r>
              <a:rPr sz="2100">
                <a:solidFill>
                  <a:srgbClr val="222A33"/>
                </a:solidFill>
                <a:latin typeface="Calibri"/>
              </a:rPr>
              <a:t>•  Fixed-time signals do not respond to real-time traffic variation.</a:t>
            </a:r>
          </a:p>
          <a:p>
            <a:pPr lvl="1">
              <a:spcAft>
                <a:spcPts val="800"/>
              </a:spcAft>
            </a:pPr>
            <a:r>
              <a:rPr sz="1900">
                <a:solidFill>
                  <a:srgbClr val="222A33"/>
                </a:solidFill>
                <a:latin typeface="Calibri"/>
              </a:rPr>
              <a:t>–  This causes unnecessary delays in off-peak periods and worsens congestion at peak.</a:t>
            </a:r>
          </a:p>
          <a:p>
            <a:pPr>
              <a:spcAft>
                <a:spcPts val="800"/>
              </a:spcAft>
            </a:pPr>
            <a:r>
              <a:rPr sz="2100">
                <a:solidFill>
                  <a:srgbClr val="222A33"/>
                </a:solidFill>
                <a:latin typeface="Calibri"/>
              </a:rPr>
              <a:t>•  They cannot adapt to changing demand or give priority to emergency vehicles.</a:t>
            </a:r>
          </a:p>
          <a:p>
            <a:pPr>
              <a:spcAft>
                <a:spcPts val="800"/>
              </a:spcAft>
            </a:pPr>
            <a:r>
              <a:rPr sz="2100">
                <a:solidFill>
                  <a:srgbClr val="222A33"/>
                </a:solidFill>
                <a:latin typeface="Calibri"/>
              </a:rPr>
              <a:t>•  There is a need for a signal controller that adjusts timing from real-time conditions —</a:t>
            </a:r>
          </a:p>
          <a:p>
            <a:pPr lvl="1">
              <a:spcAft>
                <a:spcPts val="800"/>
              </a:spcAft>
            </a:pPr>
            <a:r>
              <a:rPr sz="1900">
                <a:solidFill>
                  <a:srgbClr val="222A33"/>
                </a:solidFill>
                <a:latin typeface="Calibri"/>
              </a:rPr>
              <a:t>–  using affordable, accessible technology suited to a city like Lagos.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Aim and Objectives</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4</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234440"/>
            <a:ext cx="10972800" cy="731520"/>
          </a:xfrm>
          <a:prstGeom prst="rect">
            <a:avLst/>
          </a:prstGeom>
          <a:noFill/>
        </p:spPr>
        <p:txBody>
          <a:bodyPr wrap="square" anchor="t">
            <a:spAutoFit/>
          </a:bodyPr>
          <a:lstStyle/>
          <a:p>
            <a:pPr algn="l"/>
            <a:r>
              <a:rPr sz="1900" b="1" i="0">
                <a:solidFill>
                  <a:srgbClr val="10256B"/>
                </a:solidFill>
                <a:latin typeface="Calibri"/>
              </a:rPr>
              <a:t>Aim: To model and evaluate an intelligent traffic light system that adjusts signal timing from real-time traffic conditions using reinforcement learning.</a:t>
            </a:r>
          </a:p>
        </p:txBody>
      </p:sp>
      <p:sp>
        <p:nvSpPr>
          <p:cNvPr id="8" name="TextBox 7"/>
          <p:cNvSpPr txBox="1"/>
          <p:nvPr/>
        </p:nvSpPr>
        <p:spPr>
          <a:xfrm>
            <a:off x="548640" y="2286000"/>
            <a:ext cx="11064240" cy="3657600"/>
          </a:xfrm>
          <a:prstGeom prst="rect">
            <a:avLst/>
          </a:prstGeom>
          <a:noFill/>
        </p:spPr>
        <p:txBody>
          <a:bodyPr wrap="square">
            <a:spAutoFit/>
          </a:bodyPr>
          <a:lstStyle/>
          <a:p>
            <a:pPr>
              <a:spcAft>
                <a:spcPts val="800"/>
              </a:spcAft>
            </a:pPr>
            <a:r>
              <a:rPr sz="1900">
                <a:solidFill>
                  <a:srgbClr val="222A33"/>
                </a:solidFill>
                <a:latin typeface="Calibri"/>
              </a:rPr>
              <a:t>•  Review existing fixed-time and AI-based traffic light systems.</a:t>
            </a:r>
          </a:p>
          <a:p>
            <a:pPr>
              <a:spcAft>
                <a:spcPts val="800"/>
              </a:spcAft>
            </a:pPr>
            <a:r>
              <a:rPr sz="1900">
                <a:solidFill>
                  <a:srgbClr val="222A33"/>
                </a:solidFill>
                <a:latin typeface="Calibri"/>
              </a:rPr>
              <a:t>•  Develop a traffic state representation and reward function from camera-style data.</a:t>
            </a:r>
          </a:p>
          <a:p>
            <a:pPr>
              <a:spcAft>
                <a:spcPts val="800"/>
              </a:spcAft>
            </a:pPr>
            <a:r>
              <a:rPr sz="1900">
                <a:solidFill>
                  <a:srgbClr val="222A33"/>
                </a:solidFill>
                <a:latin typeface="Calibri"/>
              </a:rPr>
              <a:t>•  Implement a Deep Q-Network (DQN) controller to optimise traffic in simulation.</a:t>
            </a:r>
          </a:p>
          <a:p>
            <a:pPr>
              <a:spcAft>
                <a:spcPts val="800"/>
              </a:spcAft>
            </a:pPr>
            <a:r>
              <a:rPr sz="1900">
                <a:solidFill>
                  <a:srgbClr val="222A33"/>
                </a:solidFill>
                <a:latin typeface="Calibri"/>
              </a:rPr>
              <a:t>•  Build a realistic SUMO simulation of a real intersection with vehicles and demand patterns.</a:t>
            </a:r>
          </a:p>
          <a:p>
            <a:pPr>
              <a:spcAft>
                <a:spcPts val="800"/>
              </a:spcAft>
            </a:pPr>
            <a:r>
              <a:rPr sz="1900">
                <a:solidFill>
                  <a:srgbClr val="222A33"/>
                </a:solidFill>
                <a:latin typeface="Calibri"/>
              </a:rPr>
              <a:t>•  Integrate camera-based vehicle detection using computer vision (YOLO).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Research Questions</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5</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554480"/>
            <a:ext cx="11064240" cy="4114800"/>
          </a:xfrm>
          <a:prstGeom prst="rect">
            <a:avLst/>
          </a:prstGeom>
          <a:noFill/>
        </p:spPr>
        <p:txBody>
          <a:bodyPr wrap="square">
            <a:spAutoFit/>
          </a:bodyPr>
          <a:lstStyle/>
          <a:p>
            <a:pPr>
              <a:spcAft>
                <a:spcPts val="800"/>
              </a:spcAft>
            </a:pPr>
            <a:r>
              <a:rPr sz="2100">
                <a:solidFill>
                  <a:srgbClr val="222A33"/>
                </a:solidFill>
                <a:latin typeface="Calibri"/>
              </a:rPr>
              <a:t>•  Can a DQN controller reduce vehicle delay and queues versus fixed-time control at a real junction?</a:t>
            </a:r>
          </a:p>
          <a:p>
            <a:pPr>
              <a:spcAft>
                <a:spcPts val="800"/>
              </a:spcAft>
            </a:pPr>
            <a:r>
              <a:rPr sz="2100">
                <a:solidFill>
                  <a:srgbClr val="222A33"/>
                </a:solidFill>
                <a:latin typeface="Calibri"/>
              </a:rPr>
              <a:t>•  How does it compare against an OPTIMISED fixed timer (Webster) and an ACTUATED controller?</a:t>
            </a:r>
          </a:p>
          <a:p>
            <a:pPr>
              <a:spcAft>
                <a:spcPts val="800"/>
              </a:spcAft>
            </a:pPr>
            <a:r>
              <a:rPr sz="2100">
                <a:solidFill>
                  <a:srgbClr val="222A33"/>
                </a:solidFill>
                <a:latin typeface="Calibri"/>
              </a:rPr>
              <a:t>•  Does the learned policy GENERALISE across different and unseen demand patterns?</a:t>
            </a:r>
          </a:p>
          <a:p>
            <a:pPr>
              <a:spcAft>
                <a:spcPts val="800"/>
              </a:spcAft>
            </a:pPr>
            <a:r>
              <a:rPr sz="2100">
                <a:solidFill>
                  <a:srgbClr val="222A33"/>
                </a:solidFill>
                <a:latin typeface="Calibri"/>
              </a:rPr>
              <a:t>•  Under what conditions (demand, signal type) is reinforcement-learning control most beneficial?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Literature Review</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6</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371600"/>
            <a:ext cx="11064240" cy="4572000"/>
          </a:xfrm>
          <a:prstGeom prst="rect">
            <a:avLst/>
          </a:prstGeom>
          <a:noFill/>
        </p:spPr>
        <p:txBody>
          <a:bodyPr wrap="square">
            <a:spAutoFit/>
          </a:bodyPr>
          <a:lstStyle/>
          <a:p>
            <a:pPr>
              <a:spcAft>
                <a:spcPts val="800"/>
              </a:spcAft>
            </a:pPr>
            <a:r>
              <a:rPr sz="1900">
                <a:solidFill>
                  <a:srgbClr val="222A33"/>
                </a:solidFill>
                <a:latin typeface="Calibri"/>
              </a:rPr>
              <a:t>•  Fixed-time &amp; Webster control: simple and widely used, but blind to real-time demand.</a:t>
            </a:r>
          </a:p>
          <a:p>
            <a:pPr>
              <a:spcAft>
                <a:spcPts val="800"/>
              </a:spcAft>
            </a:pPr>
            <a:r>
              <a:rPr sz="1900">
                <a:solidFill>
                  <a:srgbClr val="222A33"/>
                </a:solidFill>
                <a:latin typeface="Calibri"/>
              </a:rPr>
              <a:t>•  Actuated control: sensor-based and reactive (serve the longest queue) — strong but rule-based.</a:t>
            </a:r>
          </a:p>
          <a:p>
            <a:pPr>
              <a:spcAft>
                <a:spcPts val="800"/>
              </a:spcAft>
            </a:pPr>
            <a:r>
              <a:rPr sz="1900">
                <a:solidFill>
                  <a:srgbClr val="222A33"/>
                </a:solidFill>
                <a:latin typeface="Calibri"/>
              </a:rPr>
              <a:t>•  Reinforcement learning: DQN, PressLight (max-pressure), PDLight (dynamic duration) — state of the art.</a:t>
            </a:r>
          </a:p>
          <a:p>
            <a:pPr>
              <a:spcAft>
                <a:spcPts val="800"/>
              </a:spcAft>
            </a:pPr>
            <a:r>
              <a:rPr sz="1900">
                <a:solidFill>
                  <a:srgbClr val="222A33"/>
                </a:solidFill>
                <a:latin typeface="Calibri"/>
              </a:rPr>
              <a:t>•  Research gap:</a:t>
            </a:r>
          </a:p>
          <a:p>
            <a:pPr lvl="1">
              <a:spcAft>
                <a:spcPts val="800"/>
              </a:spcAft>
            </a:pPr>
            <a:r>
              <a:rPr sz="1700">
                <a:solidFill>
                  <a:srgbClr val="222A33"/>
                </a:solidFill>
                <a:latin typeface="Calibri"/>
              </a:rPr>
              <a:t>–  most RL studies use abstract/synthetic networks and weak baselines.</a:t>
            </a:r>
          </a:p>
          <a:p>
            <a:pPr lvl="1">
              <a:spcAft>
                <a:spcPts val="800"/>
              </a:spcAft>
            </a:pPr>
            <a:r>
              <a:rPr sz="1700">
                <a:solidFill>
                  <a:srgbClr val="222A33"/>
                </a:solidFill>
                <a:latin typeface="Calibri"/>
              </a:rPr>
              <a:t>–  few validate on a real, geometry-faithful Lagos junction against strong baselines (Webster + actuated)</a:t>
            </a:r>
          </a:p>
          <a:p>
            <a:pPr lvl="1">
              <a:spcAft>
                <a:spcPts val="800"/>
              </a:spcAft>
            </a:pPr>
            <a:r>
              <a:rPr sz="1700">
                <a:solidFill>
                  <a:srgbClr val="222A33"/>
                </a:solidFill>
                <a:latin typeface="Calibri"/>
              </a:rPr>
              <a:t>–  using an accumulated-delay metric.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Methodology &amp; System Architecture</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7</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pic>
        <p:nvPicPr>
          <p:cNvPr id="7" name="Picture 6" descr="architecture.png"/>
          <p:cNvPicPr>
            <a:picLocks noChangeAspect="1"/>
          </p:cNvPicPr>
          <p:nvPr/>
        </p:nvPicPr>
        <p:blipFill>
          <a:blip r:embed="rId2"/>
          <a:stretch>
            <a:fillRect/>
          </a:stretch>
        </p:blipFill>
        <p:spPr>
          <a:xfrm>
            <a:off x="457200" y="1234440"/>
            <a:ext cx="7406640" cy="3202871"/>
          </a:xfrm>
          <a:prstGeom prst="rect">
            <a:avLst/>
          </a:prstGeom>
        </p:spPr>
      </p:pic>
      <p:sp>
        <p:nvSpPr>
          <p:cNvPr id="8" name="TextBox 7"/>
          <p:cNvSpPr txBox="1"/>
          <p:nvPr/>
        </p:nvSpPr>
        <p:spPr>
          <a:xfrm>
            <a:off x="7955279" y="1371600"/>
            <a:ext cx="4023360" cy="4572000"/>
          </a:xfrm>
          <a:prstGeom prst="rect">
            <a:avLst/>
          </a:prstGeom>
          <a:noFill/>
        </p:spPr>
        <p:txBody>
          <a:bodyPr wrap="square">
            <a:spAutoFit/>
          </a:bodyPr>
          <a:lstStyle/>
          <a:p>
            <a:pPr>
              <a:spcAft>
                <a:spcPts val="800"/>
              </a:spcAft>
            </a:pPr>
            <a:r>
              <a:rPr sz="1500">
                <a:solidFill>
                  <a:srgbClr val="222A33"/>
                </a:solidFill>
                <a:latin typeface="Calibri"/>
              </a:rPr>
              <a:t>•  Simulator: SUMO + TraCI (microscopic).</a:t>
            </a:r>
          </a:p>
          <a:p>
            <a:pPr>
              <a:spcAft>
                <a:spcPts val="800"/>
              </a:spcAft>
            </a:pPr>
            <a:r>
              <a:rPr sz="1500">
                <a:solidFill>
                  <a:srgbClr val="222A33"/>
                </a:solidFill>
                <a:latin typeface="Calibri"/>
              </a:rPr>
              <a:t>•  Junction: Obafemi Awolowo Way × Allen Ave, Ikeja — from OpenStreetMap, validated vs satellite.</a:t>
            </a:r>
          </a:p>
          <a:p>
            <a:pPr>
              <a:spcAft>
                <a:spcPts val="800"/>
              </a:spcAft>
            </a:pPr>
            <a:r>
              <a:rPr sz="1500">
                <a:solidFill>
                  <a:srgbClr val="222A33"/>
                </a:solidFill>
                <a:latin typeface="Calibri"/>
              </a:rPr>
              <a:t>•  Perception: YOLO vehicle detection.</a:t>
            </a:r>
          </a:p>
          <a:p>
            <a:pPr>
              <a:spcAft>
                <a:spcPts val="800"/>
              </a:spcAft>
            </a:pPr>
            <a:r>
              <a:rPr sz="1500">
                <a:solidFill>
                  <a:srgbClr val="222A33"/>
                </a:solidFill>
                <a:latin typeface="Calibri"/>
              </a:rPr>
              <a:t>•  Controller: Double DQN + prioritised replay.</a:t>
            </a:r>
          </a:p>
          <a:p>
            <a:pPr>
              <a:spcAft>
                <a:spcPts val="800"/>
              </a:spcAft>
            </a:pPr>
            <a:r>
              <a:rPr sz="1500">
                <a:solidFill>
                  <a:srgbClr val="222A33"/>
                </a:solidFill>
                <a:latin typeface="Calibri"/>
              </a:rPr>
              <a:t>•  Baselines: fixed-time, Webster, actuated.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System Design &amp; Implementation</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8</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pic>
        <p:nvPicPr>
          <p:cNvPr id="7" name="Picture 6" descr="rl_loop.png"/>
          <p:cNvPicPr>
            <a:picLocks noChangeAspect="1"/>
          </p:cNvPicPr>
          <p:nvPr/>
        </p:nvPicPr>
        <p:blipFill>
          <a:blip r:embed="rId2"/>
          <a:stretch>
            <a:fillRect/>
          </a:stretch>
        </p:blipFill>
        <p:spPr>
          <a:xfrm>
            <a:off x="7315200" y="1371600"/>
            <a:ext cx="4572000" cy="2482499"/>
          </a:xfrm>
          <a:prstGeom prst="rect">
            <a:avLst/>
          </a:prstGeom>
        </p:spPr>
      </p:pic>
      <p:sp>
        <p:nvSpPr>
          <p:cNvPr id="8" name="TextBox 7"/>
          <p:cNvSpPr txBox="1"/>
          <p:nvPr/>
        </p:nvSpPr>
        <p:spPr>
          <a:xfrm>
            <a:off x="548640" y="1371600"/>
            <a:ext cx="6583680" cy="4572000"/>
          </a:xfrm>
          <a:prstGeom prst="rect">
            <a:avLst/>
          </a:prstGeom>
          <a:noFill/>
        </p:spPr>
        <p:txBody>
          <a:bodyPr wrap="square">
            <a:spAutoFit/>
          </a:bodyPr>
          <a:lstStyle/>
          <a:p>
            <a:pPr>
              <a:spcAft>
                <a:spcPts val="800"/>
              </a:spcAft>
            </a:pPr>
            <a:r>
              <a:rPr sz="1700">
                <a:solidFill>
                  <a:srgbClr val="222A33"/>
                </a:solidFill>
                <a:latin typeface="Calibri"/>
              </a:rPr>
              <a:t>•  State (14 features): queue, accumulated wait, density per approach + current phase.</a:t>
            </a:r>
          </a:p>
          <a:p>
            <a:pPr>
              <a:spcAft>
                <a:spcPts val="800"/>
              </a:spcAft>
            </a:pPr>
            <a:r>
              <a:rPr sz="1700">
                <a:solidFill>
                  <a:srgbClr val="222A33"/>
                </a:solidFill>
                <a:latin typeface="Calibri"/>
              </a:rPr>
              <a:t>•  Action: choose the green phase (2-phase or 4-phase signal).</a:t>
            </a:r>
          </a:p>
          <a:p>
            <a:pPr>
              <a:spcAft>
                <a:spcPts val="800"/>
              </a:spcAft>
            </a:pPr>
            <a:r>
              <a:rPr sz="1700">
                <a:solidFill>
                  <a:srgbClr val="222A33"/>
                </a:solidFill>
                <a:latin typeface="Calibri"/>
              </a:rPr>
              <a:t>•  Reward: −(queue + weighted accumulated wait) − switch penalty.</a:t>
            </a:r>
          </a:p>
          <a:p>
            <a:pPr>
              <a:spcAft>
                <a:spcPts val="800"/>
              </a:spcAft>
            </a:pPr>
            <a:r>
              <a:rPr sz="1700">
                <a:solidFill>
                  <a:srgbClr val="222A33"/>
                </a:solidFill>
                <a:latin typeface="Calibri"/>
              </a:rPr>
              <a:t>•  Learning: ε-greedy exploration, target network, γ = 0.99.</a:t>
            </a:r>
          </a:p>
          <a:p>
            <a:pPr>
              <a:spcAft>
                <a:spcPts val="800"/>
              </a:spcAft>
            </a:pPr>
            <a:r>
              <a:rPr sz="1700">
                <a:solidFill>
                  <a:srgbClr val="222A33"/>
                </a:solidFill>
                <a:latin typeface="Calibri"/>
              </a:rPr>
              <a:t>•  Stack: Python, PyTorch, Ultralytics YOLO, SUMO; Raspberry Pi + GPIO for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Results — Two-Phase Control</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9</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pic>
        <p:nvPicPr>
          <p:cNvPr id="7" name="Picture 6" descr="baseline_comparison.png"/>
          <p:cNvPicPr>
            <a:picLocks noChangeAspect="1"/>
          </p:cNvPicPr>
          <p:nvPr/>
        </p:nvPicPr>
        <p:blipFill>
          <a:blip r:embed="rId2"/>
          <a:stretch>
            <a:fillRect/>
          </a:stretch>
        </p:blipFill>
        <p:spPr>
          <a:xfrm>
            <a:off x="365760" y="1280160"/>
            <a:ext cx="7589520" cy="2586059"/>
          </a:xfrm>
          <a:prstGeom prst="rect">
            <a:avLst/>
          </a:prstGeom>
        </p:spPr>
      </p:pic>
      <p:sp>
        <p:nvSpPr>
          <p:cNvPr id="8" name="TextBox 7"/>
          <p:cNvSpPr txBox="1"/>
          <p:nvPr/>
        </p:nvSpPr>
        <p:spPr>
          <a:xfrm>
            <a:off x="8046720" y="1371600"/>
            <a:ext cx="3931920" cy="4572000"/>
          </a:xfrm>
          <a:prstGeom prst="rect">
            <a:avLst/>
          </a:prstGeom>
          <a:noFill/>
        </p:spPr>
        <p:txBody>
          <a:bodyPr wrap="square">
            <a:spAutoFit/>
          </a:bodyPr>
          <a:lstStyle/>
          <a:p>
            <a:pPr>
              <a:spcAft>
                <a:spcPts val="800"/>
              </a:spcAft>
            </a:pPr>
            <a:r>
              <a:rPr sz="1500">
                <a:solidFill>
                  <a:srgbClr val="222A33"/>
                </a:solidFill>
                <a:latin typeface="Calibri"/>
              </a:rPr>
              <a:t>•  On a CONVENTIONAL two-phase signal, the DQN beat EVERY baseline.</a:t>
            </a:r>
          </a:p>
          <a:p>
            <a:pPr>
              <a:spcAft>
                <a:spcPts val="800"/>
              </a:spcAft>
            </a:pPr>
            <a:r>
              <a:rPr sz="1500">
                <a:solidFill>
                  <a:srgbClr val="222A33"/>
                </a:solidFill>
                <a:latin typeface="Calibri"/>
              </a:rPr>
              <a:t>•  Rush-hour accumulated delay reduced by:</a:t>
            </a:r>
          </a:p>
          <a:p>
            <a:pPr lvl="1">
              <a:spcAft>
                <a:spcPts val="800"/>
              </a:spcAft>
            </a:pPr>
            <a:r>
              <a:rPr sz="1300">
                <a:solidFill>
                  <a:srgbClr val="222A33"/>
                </a:solidFill>
                <a:latin typeface="Calibri"/>
              </a:rPr>
              <a:t>–  −69% vs naive fixed-time</a:t>
            </a:r>
          </a:p>
          <a:p>
            <a:pPr lvl="1">
              <a:spcAft>
                <a:spcPts val="800"/>
              </a:spcAft>
            </a:pPr>
            <a:r>
              <a:rPr sz="1300">
                <a:solidFill>
                  <a:srgbClr val="222A33"/>
                </a:solidFill>
                <a:latin typeface="Calibri"/>
              </a:rPr>
              <a:t>–  −60% vs Webster-optimal</a:t>
            </a:r>
          </a:p>
          <a:p>
            <a:pPr lvl="1">
              <a:spcAft>
                <a:spcPts val="800"/>
              </a:spcAft>
            </a:pPr>
            <a:r>
              <a:rPr sz="1300">
                <a:solidFill>
                  <a:srgbClr val="222A33"/>
                </a:solidFill>
                <a:latin typeface="Calibri"/>
              </a:rPr>
              <a:t>–  −76% vs actuated control</a:t>
            </a:r>
          </a:p>
          <a:p>
            <a:pPr>
              <a:spcAft>
                <a:spcPts val="800"/>
              </a:spcAft>
            </a:pPr>
            <a:r>
              <a:rPr sz="1500">
                <a:solidFill>
                  <a:srgbClr val="222A33"/>
                </a:solidFill>
                <a:latin typeface="Calibri"/>
              </a:rPr>
              <a:t>•  Lower queues AND higher throughput.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Results — Effect of Signal Architecture</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10</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pic>
        <p:nvPicPr>
          <p:cNvPr id="7" name="Picture 6" descr="dqn_vs_actuated.png"/>
          <p:cNvPicPr>
            <a:picLocks noChangeAspect="1"/>
          </p:cNvPicPr>
          <p:nvPr/>
        </p:nvPicPr>
        <p:blipFill>
          <a:blip r:embed="rId2"/>
          <a:stretch>
            <a:fillRect/>
          </a:stretch>
        </p:blipFill>
        <p:spPr>
          <a:xfrm>
            <a:off x="457200" y="1325880"/>
            <a:ext cx="7315200" cy="3738880"/>
          </a:xfrm>
          <a:prstGeom prst="rect">
            <a:avLst/>
          </a:prstGeom>
        </p:spPr>
      </p:pic>
      <p:sp>
        <p:nvSpPr>
          <p:cNvPr id="8" name="TextBox 7"/>
          <p:cNvSpPr txBox="1"/>
          <p:nvPr/>
        </p:nvSpPr>
        <p:spPr>
          <a:xfrm>
            <a:off x="7955279" y="1371600"/>
            <a:ext cx="4023360" cy="4572000"/>
          </a:xfrm>
          <a:prstGeom prst="rect">
            <a:avLst/>
          </a:prstGeom>
          <a:noFill/>
        </p:spPr>
        <p:txBody>
          <a:bodyPr wrap="square">
            <a:spAutoFit/>
          </a:bodyPr>
          <a:lstStyle/>
          <a:p>
            <a:pPr>
              <a:spcAft>
                <a:spcPts val="800"/>
              </a:spcAft>
            </a:pPr>
            <a:r>
              <a:rPr sz="1500">
                <a:solidFill>
                  <a:srgbClr val="222A33"/>
                </a:solidFill>
                <a:latin typeface="Calibri"/>
              </a:rPr>
              <a:t>•  Two-phase: DQN beats fixed-time, Webster AND actuated (all demand).</a:t>
            </a:r>
          </a:p>
          <a:p>
            <a:pPr>
              <a:spcAft>
                <a:spcPts val="800"/>
              </a:spcAft>
            </a:pPr>
            <a:r>
              <a:rPr sz="1500">
                <a:solidFill>
                  <a:srgbClr val="222A33"/>
                </a:solidFill>
                <a:latin typeface="Calibri"/>
              </a:rPr>
              <a:t>•  Four-phase (protected): DQN beats fixed-time &amp; Webster everywhere…</a:t>
            </a:r>
          </a:p>
          <a:p>
            <a:pPr lvl="1">
              <a:spcAft>
                <a:spcPts val="800"/>
              </a:spcAft>
            </a:pPr>
            <a:r>
              <a:rPr sz="1300">
                <a:solidFill>
                  <a:srgbClr val="222A33"/>
                </a:solidFill>
                <a:latin typeface="Calibri"/>
              </a:rPr>
              <a:t>–  …but a near-optimal actuated controller stays ahead.</a:t>
            </a:r>
          </a:p>
          <a:p>
            <a:pPr>
              <a:spcAft>
                <a:spcPts val="800"/>
              </a:spcAft>
            </a:pPr>
            <a:r>
              <a:rPr sz="1500">
                <a:solidFill>
                  <a:srgbClr val="222A33"/>
                </a:solidFill>
                <a:latin typeface="Calibri"/>
              </a:rPr>
              <a:t>•  Honest, literature-consistent boundary —</a:t>
            </a:r>
          </a:p>
          <a:p>
            <a:pPr lvl="1">
              <a:spcAft>
                <a:spcPts val="800"/>
              </a:spcAft>
            </a:pPr>
            <a:r>
              <a:rPr sz="1300">
                <a:solidFill>
                  <a:srgbClr val="222A33"/>
                </a:solidFill>
                <a:latin typeface="Calibri"/>
              </a:rPr>
              <a:t>–  even PressLight &amp; PDLight did not beat actuated at a single junction.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Discussion</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11</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463040"/>
            <a:ext cx="11064240" cy="4572000"/>
          </a:xfrm>
          <a:prstGeom prst="rect">
            <a:avLst/>
          </a:prstGeom>
          <a:noFill/>
        </p:spPr>
        <p:txBody>
          <a:bodyPr wrap="square">
            <a:spAutoFit/>
          </a:bodyPr>
          <a:lstStyle/>
          <a:p>
            <a:pPr>
              <a:spcAft>
                <a:spcPts val="800"/>
              </a:spcAft>
            </a:pPr>
            <a:r>
              <a:rPr sz="1900">
                <a:solidFill>
                  <a:srgbClr val="222A33"/>
                </a:solidFill>
                <a:latin typeface="Calibri"/>
              </a:rPr>
              <a:t>•  The DQN's advantage is REAL-TIME RESPONSIVENESS — it never wastes green on an empty approach.</a:t>
            </a:r>
          </a:p>
          <a:p>
            <a:pPr>
              <a:spcAft>
                <a:spcPts val="800"/>
              </a:spcAft>
            </a:pPr>
            <a:r>
              <a:rPr sz="1900">
                <a:solidFill>
                  <a:srgbClr val="222A33"/>
                </a:solidFill>
                <a:latin typeface="Calibri"/>
              </a:rPr>
              <a:t>•  Gains are largest under imbalanced/variable demand; smallest under balanced, steady demand.</a:t>
            </a:r>
          </a:p>
          <a:p>
            <a:pPr>
              <a:spcAft>
                <a:spcPts val="800"/>
              </a:spcAft>
            </a:pPr>
            <a:r>
              <a:rPr sz="1900">
                <a:solidFill>
                  <a:srgbClr val="222A33"/>
                </a:solidFill>
                <a:latin typeface="Calibri"/>
              </a:rPr>
              <a:t>•  For protected 4-phase junctions, a simple actuated rule is already near-optimal.</a:t>
            </a:r>
          </a:p>
          <a:p>
            <a:pPr>
              <a:spcAft>
                <a:spcPts val="800"/>
              </a:spcAft>
            </a:pPr>
            <a:r>
              <a:rPr sz="1900">
                <a:solidFill>
                  <a:srgbClr val="222A33"/>
                </a:solidFill>
                <a:latin typeface="Calibri"/>
              </a:rPr>
              <a:t>•  Findings align with traffic-engineering theory and meet all five project objectives.</a:t>
            </a:r>
          </a:p>
          <a:p>
            <a:pPr>
              <a:spcAft>
                <a:spcPts val="800"/>
              </a:spcAft>
            </a:pPr>
            <a:r>
              <a:rPr sz="1900">
                <a:solidFill>
                  <a:srgbClr val="222A33"/>
                </a:solidFill>
                <a:latin typeface="Calibri"/>
              </a:rPr>
              <a:t>•  Practical guidance: deploy RL on conventional two-phase junctions under heavy Lagos peak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Challenges and Limitations</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12</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463040"/>
            <a:ext cx="11064240" cy="4572000"/>
          </a:xfrm>
          <a:prstGeom prst="rect">
            <a:avLst/>
          </a:prstGeom>
          <a:noFill/>
        </p:spPr>
        <p:txBody>
          <a:bodyPr wrap="square">
            <a:spAutoFit/>
          </a:bodyPr>
          <a:lstStyle/>
          <a:p>
            <a:pPr>
              <a:spcAft>
                <a:spcPts val="800"/>
              </a:spcAft>
            </a:pPr>
            <a:r>
              <a:rPr sz="1900">
                <a:solidFill>
                  <a:srgbClr val="222A33"/>
                </a:solidFill>
                <a:latin typeface="Calibri"/>
              </a:rPr>
              <a:t>•  Policy collapse: the agent first learned to serve one approach only.</a:t>
            </a:r>
          </a:p>
          <a:p>
            <a:pPr lvl="1">
              <a:spcAft>
                <a:spcPts val="800"/>
              </a:spcAft>
            </a:pPr>
            <a:r>
              <a:rPr sz="1700">
                <a:solidFill>
                  <a:srgbClr val="222A33"/>
                </a:solidFill>
                <a:latin typeface="Calibri"/>
              </a:rPr>
              <a:t>–  Diagnosed as a state–reward mismatch (partial observability); fixed by exposing accumulated wait in the state.</a:t>
            </a:r>
          </a:p>
          <a:p>
            <a:pPr>
              <a:spcAft>
                <a:spcPts val="800"/>
              </a:spcAft>
            </a:pPr>
            <a:r>
              <a:rPr sz="1900">
                <a:solidFill>
                  <a:srgbClr val="222A33"/>
                </a:solidFill>
                <a:latin typeface="Calibri"/>
              </a:rPr>
              <a:t>•  Simulation-based evaluation; demand estimated, not measured at the junction.</a:t>
            </a:r>
          </a:p>
          <a:p>
            <a:pPr>
              <a:spcAft>
                <a:spcPts val="800"/>
              </a:spcAft>
            </a:pPr>
            <a:r>
              <a:rPr sz="1900">
                <a:solidFill>
                  <a:srgbClr val="222A33"/>
                </a:solidFill>
                <a:latin typeface="Calibri"/>
              </a:rPr>
              <a:t>•  Single junction studied — corridor (multi-junction) coordination not addressed.</a:t>
            </a:r>
          </a:p>
          <a:p>
            <a:pPr>
              <a:spcAft>
                <a:spcPts val="800"/>
              </a:spcAft>
            </a:pPr>
            <a:r>
              <a:rPr sz="1900">
                <a:solidFill>
                  <a:srgbClr val="222A33"/>
                </a:solidFill>
                <a:latin typeface="Calibri"/>
              </a:rPr>
              <a:t>•  Actuated control superior on four-phase signals; YOLO accuracy not yet quantified in the field.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Conclusion</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13</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554480"/>
            <a:ext cx="11064240" cy="4572000"/>
          </a:xfrm>
          <a:prstGeom prst="rect">
            <a:avLst/>
          </a:prstGeom>
          <a:noFill/>
        </p:spPr>
        <p:txBody>
          <a:bodyPr wrap="square">
            <a:spAutoFit/>
          </a:bodyPr>
          <a:lstStyle/>
          <a:p>
            <a:pPr>
              <a:spcAft>
                <a:spcPts val="800"/>
              </a:spcAft>
            </a:pPr>
            <a:r>
              <a:rPr sz="2000">
                <a:solidFill>
                  <a:srgbClr val="222A33"/>
                </a:solidFill>
                <a:latin typeface="Calibri"/>
              </a:rPr>
              <a:t>•  On two-phase control, the DQN cut accumulated delay by 16–76% versus fixed-time, Webster AND actuated — on every demand pattern.</a:t>
            </a:r>
          </a:p>
          <a:p>
            <a:pPr>
              <a:spcAft>
                <a:spcPts val="800"/>
              </a:spcAft>
            </a:pPr>
            <a:r>
              <a:rPr sz="2000">
                <a:solidFill>
                  <a:srgbClr val="222A33"/>
                </a:solidFill>
                <a:latin typeface="Calibri"/>
              </a:rPr>
              <a:t>•  On four-phase control, it beat fixed-time and Webster; a gap-out actuated controller remained best.</a:t>
            </a:r>
          </a:p>
          <a:p>
            <a:pPr>
              <a:spcAft>
                <a:spcPts val="800"/>
              </a:spcAft>
            </a:pPr>
            <a:r>
              <a:rPr sz="2000">
                <a:solidFill>
                  <a:srgbClr val="222A33"/>
                </a:solidFill>
                <a:latin typeface="Calibri"/>
              </a:rPr>
              <a:t>•  Its core advantage is responsiveness to real-time variation that no fixed plan can match.</a:t>
            </a:r>
          </a:p>
          <a:p>
            <a:pPr>
              <a:spcAft>
                <a:spcPts val="800"/>
              </a:spcAft>
            </a:pPr>
            <a:r>
              <a:rPr sz="2000">
                <a:solidFill>
                  <a:srgbClr val="222A33"/>
                </a:solidFill>
                <a:latin typeface="Calibri"/>
              </a:rPr>
              <a:t>•  Reinforcement learning is most valuable for two-phase junctions under heavy, imbalanced Lagos peak traffic.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Recommendations &amp; Future Work</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14</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371600"/>
            <a:ext cx="11064240" cy="4572000"/>
          </a:xfrm>
          <a:prstGeom prst="rect">
            <a:avLst/>
          </a:prstGeom>
          <a:noFill/>
        </p:spPr>
        <p:txBody>
          <a:bodyPr wrap="square">
            <a:spAutoFit/>
          </a:bodyPr>
          <a:lstStyle/>
          <a:p>
            <a:pPr>
              <a:spcAft>
                <a:spcPts val="800"/>
              </a:spcAft>
            </a:pPr>
            <a:r>
              <a:rPr sz="1800">
                <a:solidFill>
                  <a:srgbClr val="222A33"/>
                </a:solidFill>
                <a:latin typeface="Calibri"/>
              </a:rPr>
              <a:t>•  Collect field data: run the project's own YOLO on junction footage to obtain measured demand.</a:t>
            </a:r>
          </a:p>
          <a:p>
            <a:pPr>
              <a:spcAft>
                <a:spcPts val="800"/>
              </a:spcAft>
            </a:pPr>
            <a:r>
              <a:rPr sz="1800">
                <a:solidFill>
                  <a:srgbClr val="222A33"/>
                </a:solidFill>
                <a:latin typeface="Calibri"/>
              </a:rPr>
              <a:t>•  Extend to corridor (multi-agent) control along Obafemi Awolowo Way — where pressure RL should win.</a:t>
            </a:r>
          </a:p>
          <a:p>
            <a:pPr>
              <a:spcAft>
                <a:spcPts val="800"/>
              </a:spcAft>
            </a:pPr>
            <a:r>
              <a:rPr sz="1800">
                <a:solidFill>
                  <a:srgbClr val="222A33"/>
                </a:solidFill>
                <a:latin typeface="Calibri"/>
              </a:rPr>
              <a:t>•  Add a throughput-aware / max-pressure term to the reward.</a:t>
            </a:r>
          </a:p>
          <a:p>
            <a:pPr>
              <a:spcAft>
                <a:spcPts val="800"/>
              </a:spcAft>
            </a:pPr>
            <a:r>
              <a:rPr sz="1800">
                <a:solidFill>
                  <a:srgbClr val="222A33"/>
                </a:solidFill>
                <a:latin typeface="Calibri"/>
              </a:rPr>
              <a:t>•  Robust perception: fine-tune detection for okada and keke under Lagos conditions.</a:t>
            </a:r>
          </a:p>
          <a:p>
            <a:pPr>
              <a:spcAft>
                <a:spcPts val="800"/>
              </a:spcAft>
            </a:pPr>
            <a:r>
              <a:rPr sz="1800">
                <a:solidFill>
                  <a:srgbClr val="222A33"/>
                </a:solidFill>
                <a:latin typeface="Calibri"/>
              </a:rPr>
              <a:t>•  Hardware pilot: supervised Raspberry Pi + GPIO deployment with a fixed-time safety fallback.</a:t>
            </a:r>
          </a:p>
          <a:p>
            <a:pPr>
              <a:spcAft>
                <a:spcPts val="800"/>
              </a:spcAft>
            </a:pPr>
            <a:r>
              <a:rPr sz="1800">
                <a:solidFill>
                  <a:srgbClr val="222A33"/>
                </a:solidFill>
                <a:latin typeface="Calibri"/>
              </a:rPr>
              <a:t>•  Implement and evaluate emergency-vehicle preemption.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11247120" cy="960120"/>
          </a:xfrm>
          <a:prstGeom prst="rect">
            <a:avLst/>
          </a:prstGeom>
          <a:noFill/>
        </p:spPr>
        <p:txBody>
          <a:bodyPr wrap="square" anchor="ctr">
            <a:spAutoFit/>
          </a:bodyPr>
          <a:lstStyle/>
          <a:p>
            <a:pPr algn="l"/>
            <a:r>
              <a:rPr sz="2600" b="1" i="0">
                <a:solidFill>
                  <a:srgbClr val="FFFFFF"/>
                </a:solidFill>
                <a:latin typeface="Calibri"/>
              </a:rPr>
              <a:t>References</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r>
              <a:rPr sz="1200" b="0" i="0">
                <a:solidFill>
                  <a:srgbClr val="5F6B7A"/>
                </a:solidFill>
                <a:latin typeface="Calibri"/>
              </a:rPr>
              <a:t>15</a:t>
            </a:r>
          </a:p>
        </p:txBody>
      </p:sp>
      <p:sp>
        <p:nvSpPr>
          <p:cNvPr id="6" name="TextBox 5"/>
          <p:cNvSpPr txBox="1"/>
          <p:nvPr/>
        </p:nvSpPr>
        <p:spPr>
          <a:xfrm>
            <a:off x="457200" y="6355080"/>
            <a:ext cx="7315200" cy="365760"/>
          </a:xfrm>
          <a:prstGeom prst="rect">
            <a:avLst/>
          </a:prstGeom>
          <a:noFill/>
        </p:spPr>
        <p:txBody>
          <a:bodyPr wrap="square" anchor="t">
            <a:spAutoFit/>
          </a:bodyPr>
          <a:lstStyle/>
          <a:p>
            <a:pPr algn="l"/>
            <a:r>
              <a:rPr sz="1000" b="0" i="0">
                <a:solidFill>
                  <a:srgbClr val="5F6B7A"/>
                </a:solidFill>
                <a:latin typeface="Calibri"/>
              </a:rPr>
              <a:t>Intelligent Traffic Light System using Deep Reinforcement Learning</a:t>
            </a:r>
          </a:p>
        </p:txBody>
      </p:sp>
      <p:sp>
        <p:nvSpPr>
          <p:cNvPr id="7" name="TextBox 6"/>
          <p:cNvSpPr txBox="1"/>
          <p:nvPr/>
        </p:nvSpPr>
        <p:spPr>
          <a:xfrm>
            <a:off x="548640" y="1371600"/>
            <a:ext cx="11064240" cy="4572000"/>
          </a:xfrm>
          <a:prstGeom prst="rect">
            <a:avLst/>
          </a:prstGeom>
          <a:noFill/>
        </p:spPr>
        <p:txBody>
          <a:bodyPr wrap="square">
            <a:spAutoFit/>
          </a:bodyPr>
          <a:lstStyle/>
          <a:p>
            <a:pPr>
              <a:spcAft>
                <a:spcPts val="800"/>
              </a:spcAft>
            </a:pPr>
            <a:r>
              <a:rPr sz="1500">
                <a:solidFill>
                  <a:srgbClr val="222A33"/>
                </a:solidFill>
                <a:latin typeface="Calibri"/>
              </a:rPr>
              <a:t>•  Krajzewicz, D., et al. (2012). Recent development and applications of SUMO. Int. J. Adv. Systems &amp; Measurements, 5(3–4), 128–138.</a:t>
            </a:r>
          </a:p>
          <a:p>
            <a:pPr>
              <a:spcAft>
                <a:spcPts val="800"/>
              </a:spcAft>
            </a:pPr>
            <a:r>
              <a:rPr sz="1500">
                <a:solidFill>
                  <a:srgbClr val="222A33"/>
                </a:solidFill>
                <a:latin typeface="Calibri"/>
              </a:rPr>
              <a:t>•  Mnih, V., et al. (2015). Human-level control through deep reinforcement learning. Nature, 518, 529–533.</a:t>
            </a:r>
          </a:p>
          <a:p>
            <a:pPr>
              <a:spcAft>
                <a:spcPts val="800"/>
              </a:spcAft>
            </a:pPr>
            <a:r>
              <a:rPr sz="1500">
                <a:solidFill>
                  <a:srgbClr val="222A33"/>
                </a:solidFill>
                <a:latin typeface="Calibri"/>
              </a:rPr>
              <a:t>•  Sutton, R. S., &amp; Barto, A. G. (2018). Reinforcement Learning: An Introduction (2nd ed.). MIT Press.</a:t>
            </a:r>
          </a:p>
          <a:p>
            <a:pPr>
              <a:spcAft>
                <a:spcPts val="800"/>
              </a:spcAft>
            </a:pPr>
            <a:r>
              <a:rPr sz="1500">
                <a:solidFill>
                  <a:srgbClr val="222A33"/>
                </a:solidFill>
                <a:latin typeface="Calibri"/>
              </a:rPr>
              <a:t>•  Webster, F. V. (1958). Traffic Signal Settings. Road Research Technical Paper No. 39. HMSO.</a:t>
            </a:r>
          </a:p>
          <a:p>
            <a:pPr>
              <a:spcAft>
                <a:spcPts val="800"/>
              </a:spcAft>
            </a:pPr>
            <a:r>
              <a:rPr sz="1500">
                <a:solidFill>
                  <a:srgbClr val="222A33"/>
                </a:solidFill>
                <a:latin typeface="Calibri"/>
              </a:rPr>
              <a:t>•  Wei, H., et al. (2019). PressLight: Learning max pressure control to coordinate traffic signals. KDD 2019.</a:t>
            </a:r>
          </a:p>
          <a:p>
            <a:pPr>
              <a:spcAft>
                <a:spcPts val="800"/>
              </a:spcAft>
            </a:pPr>
            <a:r>
              <a:rPr sz="1500">
                <a:solidFill>
                  <a:srgbClr val="222A33"/>
                </a:solidFill>
                <a:latin typeface="Calibri"/>
              </a:rPr>
              <a:t>•  Zhang, C., et al. (2020). PDLight: DRL traffic light control with pressure and dynamic duration. arXiv:2009.13711.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023360"/>
            <a:ext cx="12191695" cy="73152"/>
          </a:xfrm>
          <a:prstGeom prst="rect">
            <a:avLst/>
          </a:prstGeom>
          <a:solidFill>
            <a:srgbClr val="1A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698480" cy="1280160"/>
          </a:xfrm>
          <a:prstGeom prst="rect">
            <a:avLst/>
          </a:prstGeom>
          <a:noFill/>
        </p:spPr>
        <p:txBody>
          <a:bodyPr wrap="square" anchor="t">
            <a:spAutoFit/>
          </a:bodyPr>
          <a:lstStyle/>
          <a:p>
            <a:pPr algn="ctr"/>
            <a:r>
              <a:rPr sz="5400" b="1" i="0">
                <a:solidFill>
                  <a:srgbClr val="FFFFFF"/>
                </a:solidFill>
                <a:latin typeface="Calibri"/>
              </a:rPr>
              <a:t>Thank You</a:t>
            </a:r>
          </a:p>
        </p:txBody>
      </p:sp>
      <p:sp>
        <p:nvSpPr>
          <p:cNvPr id="5" name="TextBox 4"/>
          <p:cNvSpPr txBox="1"/>
          <p:nvPr/>
        </p:nvSpPr>
        <p:spPr>
          <a:xfrm>
            <a:off x="731520" y="3657600"/>
            <a:ext cx="10698480" cy="731520"/>
          </a:xfrm>
          <a:prstGeom prst="rect">
            <a:avLst/>
          </a:prstGeom>
          <a:noFill/>
        </p:spPr>
        <p:txBody>
          <a:bodyPr wrap="square" anchor="t">
            <a:spAutoFit/>
          </a:bodyPr>
          <a:lstStyle/>
          <a:p>
            <a:pPr algn="ctr"/>
            <a:r>
              <a:rPr sz="2600" b="0" i="1">
                <a:solidFill>
                  <a:srgbClr val="9FB4E0"/>
                </a:solidFill>
                <a:latin typeface="Calibri"/>
              </a:rPr>
              <a:t>Questions &amp; Discussion</a:t>
            </a:r>
          </a:p>
        </p:txBody>
      </p:sp>
      <p:sp>
        <p:nvSpPr>
          <p:cNvPr id="6" name="TextBox 5"/>
          <p:cNvSpPr txBox="1"/>
          <p:nvPr/>
        </p:nvSpPr>
        <p:spPr>
          <a:xfrm>
            <a:off x="731520" y="4754880"/>
            <a:ext cx="10698480" cy="731520"/>
          </a:xfrm>
          <a:prstGeom prst="rect">
            <a:avLst/>
          </a:prstGeom>
          <a:noFill/>
        </p:spPr>
        <p:txBody>
          <a:bodyPr wrap="square" anchor="t">
            <a:spAutoFit/>
          </a:bodyPr>
          <a:lstStyle/>
          <a:p>
            <a:pPr algn="ctr"/>
            <a:r>
              <a:rPr sz="1800" b="0" i="0">
                <a:solidFill>
                  <a:srgbClr val="FFFFFF"/>
                </a:solidFill>
                <a:latin typeface="Calibri"/>
              </a:rPr>
              <a:t>Oluwadamilola Samson Oladejo   |   dejodammy7@gmail.com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