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panel. My name is Oluwadamilola Oladejo. My project is an intelligent traffic light system that uses deep reinforcement learning to control signals adaptively, with a busy junction in Ikeja, Lagos, as the case study. I will cover the problem, my approach, my results, and the honest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Lagos is consistently ranked among the world's worst cities for traffic. Commuters lose hours daily and the economy loses trillions of naira, with serious pollution effects. A key reason is that most signals are fixed-time — they cannot react to actual traffic. AI and reinforcement learning now offer a smarter, adaptive alternative, and that is the opportunity this project explores.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that a fixed timer is blind. It gives the same green to an empty road as to a jammed one. This wastes time off-peak, worsens jams at peak, and cannot prioritise an ambulance. So we need an adaptive controller that decides from live conditions, and ideally one that runs on low-cost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was to model and evaluate an adaptive, RL-based signal system. I set five objectives: review the field; design the state and reward; implement a DQN controller; build a realistic SUMO model of a real junction; and integrate YOLO vehicle detection so the same controller can run on a camera feed.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guided the work. Does RL beat a fixed timer at a real junction? How does it compare to an optimised Webster timer and an actuated controller — not just a naive one? Does it generalise rather than memorise? And where exactly is it worth using? I answered the last two honestly.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control spans fixed-time, Webster timing, and actuated control. On the AI side, DQN and pressure-based methods like PressLight and PDLight are state of the art. But most RL papers test on synthetic grids against weak baselines. My gap is a rigorous, honest evaluation on a real, validated Lagos junction, against strong baselines, with a realistic delay metric.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method combines a microscopic simulator (SUMO via TraCI); a real Ikeja junction exported from OpenStreetMap and corrected against satellite imagery; YOLO for vehicle detection; and a Double DQN controller. As the diagram shows, the camera or simulator produces a state, the DQN chooses a phase, and that drives the signal — a closed feedback loop. I compare against three baselines, including the strong 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observes 14 numbers — queue, accumulated waiting time and density for each approach, plus the current phase. Its action is which phase to make green. The reward penalises queues and accumulated delay, with a small switch penalty to avoid unsafe flicker. It is built in Python with PyTorch, YOLO and SUMO, and designed to deploy on a Raspberry Pi driving real lights via GPIO.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headline two-phase results. The chart shows queue, delay and throughput per controller at rush hour. The DQN has the lowest queue and delay and the highest throughput. It cuts accumulated delay by 69 percent against the naive timer, 60 percent against the optimised Webster timer, and 76 percent against the actuated controller — and it wins on all demand patterns, not just this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honest nuance. On two-phase signals — green bars — the DQN wins everywhere. On four-phase protected signals — amber bars — it still beats fixed-time and Webster, but actuated control is better. I even implemented PressLight and PDLight, and they did not beat actuated at a single junction either, which matches the literature. Reporting this boundary makes the result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it work? The agent reacts to the live state and never wastes green on an empty road, so its gains are biggest where fixed timers struggle — imbalanced, variable demand. Where demand is balanced or the signal is a saturated four-phase one, the actuated rule is already near-optimal. This is consistent with theory and gives a clear deployment message: use RL on two-phase junctions under heavy, imbalanced peak demand — exactly the Lagos 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was a policy collapse: the agent served only one approach and starved the other. I traced it to a subtle flaw — the reward penalised accumulated delay, but the state only showed instantaneous delay, so the agent was punished for something it could not see. Exposing accumulated delay in the state fixed it. Honest limitations: simulation-based with estimated demand; a single junction; actuated wins on four-phase; and YOLO accuracy is not yet field-measured.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on two-phase control my agent cut accumulated delay by 16 to 76 percent against every baseline, on every demand pattern. On four-phase it beat the fixed timers while actuated remained best. Its advantage is responsiveness, and the honest takeaway is that RL is most valuable for two-phase junctions under the heavy, imbalanced demand of Lagos rush hour.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work: use my own YOLO on real footage to get measured demand; extend to a corridor of signals where pressure-based RL should finally win; add a throughput term to the reward; harden the vision for motorcycles and tricycles; run a supervised hardware pilot; and complete emergency-vehicle priority, which directly addresses the original problem.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references in APA format: the SUMO simulator, the DQN paper by Mnih and colleagues, Sutton and Barto's textbook, Webster's signal-timing method, and the two state-of-the-art methods I implemented — PressLight and PDLight.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questions, and I can walk through the live simulation, the training curves, or the diagnostic finding in more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21040" y="0"/>
            <a:ext cx="3867912" cy="6858000"/>
          </a:xfrm>
          <a:prstGeom prst="rect">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321040" y="0"/>
            <a:ext cx="91440" cy="6858000"/>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784080" y="1828800"/>
            <a:ext cx="960120" cy="2496312"/>
          </a:xfrm>
          <a:prstGeom prst="roundRect">
            <a:avLst>
              <a:gd name="adj" fmla="val 30000"/>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95306" y="2049627"/>
            <a:ext cx="537667" cy="537667"/>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95306" y="2808122"/>
            <a:ext cx="537667" cy="537667"/>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95306" y="3566617"/>
            <a:ext cx="537667" cy="537667"/>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097280"/>
            <a:ext cx="7406640" cy="457200"/>
          </a:xfrm>
          <a:prstGeom prst="rect">
            <a:avLst/>
          </a:prstGeom>
          <a:noFill/>
        </p:spPr>
        <p:txBody>
          <a:bodyPr wrap="square" anchor="t">
            <a:spAutoFit/>
          </a:bodyPr>
          <a:lstStyle/>
          <a:p>
            <a:pPr algn="l">
              <a:lnSpc>
                <a:spcPct val="100000"/>
              </a:lnSpc>
            </a:pPr>
            <a:r>
              <a:rPr sz="1500" b="1" i="0">
                <a:solidFill>
                  <a:srgbClr val="1F9D55"/>
                </a:solidFill>
                <a:latin typeface="Calibri"/>
              </a:rPr>
              <a:t>FINAL YEAR PROJECT  ·  DEFENSE</a:t>
            </a:r>
          </a:p>
        </p:txBody>
      </p:sp>
      <p:sp>
        <p:nvSpPr>
          <p:cNvPr id="10" name="TextBox 9"/>
          <p:cNvSpPr txBox="1"/>
          <p:nvPr/>
        </p:nvSpPr>
        <p:spPr>
          <a:xfrm>
            <a:off x="640080" y="1645920"/>
            <a:ext cx="7498079" cy="2377440"/>
          </a:xfrm>
          <a:prstGeom prst="rect">
            <a:avLst/>
          </a:prstGeom>
          <a:noFill/>
        </p:spPr>
        <p:txBody>
          <a:bodyPr wrap="square" anchor="t">
            <a:spAutoFit/>
          </a:bodyPr>
          <a:lstStyle/>
          <a:p>
            <a:pPr algn="l">
              <a:lnSpc>
                <a:spcPct val="105000"/>
              </a:lnSpc>
            </a:pPr>
            <a:r>
              <a:rPr sz="3600" b="1" i="0">
                <a:solidFill>
                  <a:srgbClr val="FFFFFF"/>
                </a:solidFill>
                <a:latin typeface="Calibri"/>
              </a:rPr>
              <a:t>An Intelligent Traffic Light System Using Deep Reinforcement Learning</a:t>
            </a:r>
          </a:p>
        </p:txBody>
      </p:sp>
      <p:sp>
        <p:nvSpPr>
          <p:cNvPr id="11" name="TextBox 10"/>
          <p:cNvSpPr txBox="1"/>
          <p:nvPr/>
        </p:nvSpPr>
        <p:spPr>
          <a:xfrm>
            <a:off x="640080" y="3977639"/>
            <a:ext cx="7498079" cy="548640"/>
          </a:xfrm>
          <a:prstGeom prst="rect">
            <a:avLst/>
          </a:prstGeom>
          <a:noFill/>
        </p:spPr>
        <p:txBody>
          <a:bodyPr wrap="square" anchor="t">
            <a:spAutoFit/>
          </a:bodyPr>
          <a:lstStyle/>
          <a:p>
            <a:pPr algn="l">
              <a:lnSpc>
                <a:spcPct val="100000"/>
              </a:lnSpc>
            </a:pPr>
            <a:r>
              <a:rPr sz="2000" b="0" i="1">
                <a:solidFill>
                  <a:srgbClr val="C7D0E6"/>
                </a:solidFill>
                <a:latin typeface="Calibri"/>
              </a:rPr>
              <a:t>A Case Study of Lagos Traffic</a:t>
            </a:r>
          </a:p>
        </p:txBody>
      </p:sp>
      <p:sp>
        <p:nvSpPr>
          <p:cNvPr id="12" name="Rectangle 11"/>
          <p:cNvSpPr/>
          <p:nvPr/>
        </p:nvSpPr>
        <p:spPr>
          <a:xfrm>
            <a:off x="658368" y="4617720"/>
            <a:ext cx="2011680" cy="45720"/>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00600"/>
            <a:ext cx="7498079" cy="457200"/>
          </a:xfrm>
          <a:prstGeom prst="rect">
            <a:avLst/>
          </a:prstGeom>
          <a:noFill/>
        </p:spPr>
        <p:txBody>
          <a:bodyPr wrap="square" anchor="t">
            <a:spAutoFit/>
          </a:bodyPr>
          <a:lstStyle/>
          <a:p>
            <a:pPr algn="l">
              <a:lnSpc>
                <a:spcPct val="100000"/>
              </a:lnSpc>
            </a:pPr>
            <a:r>
              <a:rPr sz="1800" b="1" i="0">
                <a:solidFill>
                  <a:srgbClr val="FFFFFF"/>
                </a:solidFill>
                <a:latin typeface="Calibri"/>
              </a:rPr>
              <a:t>Oluwadamilola Samson Oladejo   ·   21120612543</a:t>
            </a:r>
          </a:p>
        </p:txBody>
      </p:sp>
      <p:sp>
        <p:nvSpPr>
          <p:cNvPr id="14" name="TextBox 13"/>
          <p:cNvSpPr txBox="1"/>
          <p:nvPr/>
        </p:nvSpPr>
        <p:spPr>
          <a:xfrm>
            <a:off x="640080" y="5303520"/>
            <a:ext cx="7498079" cy="1280160"/>
          </a:xfrm>
          <a:prstGeom prst="rect">
            <a:avLst/>
          </a:prstGeom>
          <a:noFill/>
        </p:spPr>
        <p:txBody>
          <a:bodyPr wrap="square" anchor="t">
            <a:spAutoFit/>
          </a:bodyPr>
          <a:lstStyle/>
          <a:p>
            <a:pPr algn="l">
              <a:lnSpc>
                <a:spcPct val="120000"/>
              </a:lnSpc>
            </a:pPr>
            <a:r>
              <a:rPr sz="1400" b="0" i="0">
                <a:solidFill>
                  <a:srgbClr val="C7D0E6"/>
                </a:solidFill>
                <a:latin typeface="Calibri"/>
              </a:rPr>
              <a:t>Computer &amp; Information Sciences · Pan-Atlantic University</a:t>
            </a:r>
          </a:p>
          <a:p>
            <a:pPr algn="l">
              <a:lnSpc>
                <a:spcPct val="120000"/>
              </a:lnSpc>
            </a:pPr>
            <a:r>
              <a:rPr sz="1400" b="0" i="0">
                <a:solidFill>
                  <a:srgbClr val="C7D0E6"/>
                </a:solidFill>
                <a:latin typeface="Calibri"/>
              </a:rPr>
              <a:t>Supervisor: [Supervisor's Name]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Introduction — Background</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2</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17320"/>
            <a:ext cx="3566160" cy="155448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417320"/>
            <a:ext cx="3566160" cy="128016"/>
          </a:xfrm>
          <a:prstGeom prst="roundRect">
            <a:avLst>
              <a:gd name="adj" fmla="val 5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91640"/>
            <a:ext cx="3566160" cy="822960"/>
          </a:xfrm>
          <a:prstGeom prst="rect">
            <a:avLst/>
          </a:prstGeom>
          <a:noFill/>
        </p:spPr>
        <p:txBody>
          <a:bodyPr wrap="square" anchor="t">
            <a:spAutoFit/>
          </a:bodyPr>
          <a:lstStyle/>
          <a:p>
            <a:pPr algn="ctr">
              <a:lnSpc>
                <a:spcPct val="100000"/>
              </a:lnSpc>
            </a:pPr>
            <a:r>
              <a:rPr sz="4000" b="1" i="0">
                <a:solidFill>
                  <a:srgbClr val="D63B3B"/>
                </a:solidFill>
                <a:latin typeface="Calibri"/>
              </a:rPr>
              <a:t>#1</a:t>
            </a:r>
          </a:p>
        </p:txBody>
      </p:sp>
      <p:sp>
        <p:nvSpPr>
          <p:cNvPr id="15" name="TextBox 14"/>
          <p:cNvSpPr txBox="1"/>
          <p:nvPr/>
        </p:nvSpPr>
        <p:spPr>
          <a:xfrm>
            <a:off x="548640" y="2404872"/>
            <a:ext cx="3566160" cy="457200"/>
          </a:xfrm>
          <a:prstGeom prst="rect">
            <a:avLst/>
          </a:prstGeom>
          <a:noFill/>
        </p:spPr>
        <p:txBody>
          <a:bodyPr wrap="square" anchor="t">
            <a:spAutoFit/>
          </a:bodyPr>
          <a:lstStyle/>
          <a:p>
            <a:pPr algn="ctr">
              <a:lnSpc>
                <a:spcPct val="100000"/>
              </a:lnSpc>
            </a:pPr>
            <a:r>
              <a:rPr sz="1300" b="1" i="0">
                <a:solidFill>
                  <a:srgbClr val="6B7686"/>
                </a:solidFill>
                <a:latin typeface="Calibri"/>
              </a:rPr>
              <a:t>Lagos: among the world's</a:t>
            </a:r>
          </a:p>
          <a:p>
            <a:pPr algn="ctr">
              <a:lnSpc>
                <a:spcPct val="100000"/>
              </a:lnSpc>
            </a:pPr>
            <a:r>
              <a:rPr sz="1300" b="1" i="0">
                <a:solidFill>
                  <a:srgbClr val="6B7686"/>
                </a:solidFill>
                <a:latin typeface="Calibri"/>
              </a:rPr>
              <a:t>most congested cities</a:t>
            </a:r>
          </a:p>
        </p:txBody>
      </p:sp>
      <p:sp>
        <p:nvSpPr>
          <p:cNvPr id="16" name="Rounded Rectangle 15"/>
          <p:cNvSpPr/>
          <p:nvPr/>
        </p:nvSpPr>
        <p:spPr>
          <a:xfrm>
            <a:off x="4297680" y="1417320"/>
            <a:ext cx="3566160" cy="155448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97680" y="1417320"/>
            <a:ext cx="3566160" cy="12801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691640"/>
            <a:ext cx="3566160" cy="822960"/>
          </a:xfrm>
          <a:prstGeom prst="rect">
            <a:avLst/>
          </a:prstGeom>
          <a:noFill/>
        </p:spPr>
        <p:txBody>
          <a:bodyPr wrap="square" anchor="t">
            <a:spAutoFit/>
          </a:bodyPr>
          <a:lstStyle/>
          <a:p>
            <a:pPr algn="ctr">
              <a:lnSpc>
                <a:spcPct val="100000"/>
              </a:lnSpc>
            </a:pPr>
            <a:r>
              <a:rPr sz="4000" b="1" i="0">
                <a:solidFill>
                  <a:srgbClr val="F2A82B"/>
                </a:solidFill>
                <a:latin typeface="Calibri"/>
              </a:rPr>
              <a:t>~4 hrs</a:t>
            </a:r>
          </a:p>
        </p:txBody>
      </p:sp>
      <p:sp>
        <p:nvSpPr>
          <p:cNvPr id="19" name="TextBox 18"/>
          <p:cNvSpPr txBox="1"/>
          <p:nvPr/>
        </p:nvSpPr>
        <p:spPr>
          <a:xfrm>
            <a:off x="4297680" y="2404872"/>
            <a:ext cx="3566160" cy="457200"/>
          </a:xfrm>
          <a:prstGeom prst="rect">
            <a:avLst/>
          </a:prstGeom>
          <a:noFill/>
        </p:spPr>
        <p:txBody>
          <a:bodyPr wrap="square" anchor="t">
            <a:spAutoFit/>
          </a:bodyPr>
          <a:lstStyle/>
          <a:p>
            <a:pPr algn="ctr">
              <a:lnSpc>
                <a:spcPct val="100000"/>
              </a:lnSpc>
            </a:pPr>
            <a:r>
              <a:rPr sz="1300" b="1" i="0">
                <a:solidFill>
                  <a:srgbClr val="6B7686"/>
                </a:solidFill>
                <a:latin typeface="Calibri"/>
              </a:rPr>
              <a:t>lost daily by commuters</a:t>
            </a:r>
          </a:p>
          <a:p>
            <a:pPr algn="ctr">
              <a:lnSpc>
                <a:spcPct val="100000"/>
              </a:lnSpc>
            </a:pPr>
            <a:r>
              <a:rPr sz="1300" b="1" i="0">
                <a:solidFill>
                  <a:srgbClr val="6B7686"/>
                </a:solidFill>
                <a:latin typeface="Calibri"/>
              </a:rPr>
              <a:t>in traffic</a:t>
            </a:r>
          </a:p>
        </p:txBody>
      </p:sp>
      <p:sp>
        <p:nvSpPr>
          <p:cNvPr id="20" name="Rounded Rectangle 19"/>
          <p:cNvSpPr/>
          <p:nvPr/>
        </p:nvSpPr>
        <p:spPr>
          <a:xfrm>
            <a:off x="8046720" y="1417320"/>
            <a:ext cx="3566160" cy="155448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0" y="1417320"/>
            <a:ext cx="3566160" cy="12801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1691640"/>
            <a:ext cx="3566160" cy="822960"/>
          </a:xfrm>
          <a:prstGeom prst="rect">
            <a:avLst/>
          </a:prstGeom>
          <a:noFill/>
        </p:spPr>
        <p:txBody>
          <a:bodyPr wrap="square" anchor="t">
            <a:spAutoFit/>
          </a:bodyPr>
          <a:lstStyle/>
          <a:p>
            <a:pPr algn="ctr">
              <a:lnSpc>
                <a:spcPct val="100000"/>
              </a:lnSpc>
            </a:pPr>
            <a:r>
              <a:rPr sz="4000" b="1" i="0">
                <a:solidFill>
                  <a:srgbClr val="1B327A"/>
                </a:solidFill>
                <a:latin typeface="Calibri"/>
              </a:rPr>
              <a:t>₦4tn</a:t>
            </a:r>
          </a:p>
        </p:txBody>
      </p:sp>
      <p:sp>
        <p:nvSpPr>
          <p:cNvPr id="23" name="TextBox 22"/>
          <p:cNvSpPr txBox="1"/>
          <p:nvPr/>
        </p:nvSpPr>
        <p:spPr>
          <a:xfrm>
            <a:off x="8046720" y="2404872"/>
            <a:ext cx="3566160" cy="457200"/>
          </a:xfrm>
          <a:prstGeom prst="rect">
            <a:avLst/>
          </a:prstGeom>
          <a:noFill/>
        </p:spPr>
        <p:txBody>
          <a:bodyPr wrap="square" anchor="t">
            <a:spAutoFit/>
          </a:bodyPr>
          <a:lstStyle/>
          <a:p>
            <a:pPr algn="ctr">
              <a:lnSpc>
                <a:spcPct val="100000"/>
              </a:lnSpc>
            </a:pPr>
            <a:r>
              <a:rPr sz="1300" b="1" i="0">
                <a:solidFill>
                  <a:srgbClr val="6B7686"/>
                </a:solidFill>
                <a:latin typeface="Calibri"/>
              </a:rPr>
              <a:t>estimated annual loss</a:t>
            </a:r>
          </a:p>
          <a:p>
            <a:pPr algn="ctr">
              <a:lnSpc>
                <a:spcPct val="100000"/>
              </a:lnSpc>
            </a:pPr>
            <a:r>
              <a:rPr sz="1300" b="1" i="0">
                <a:solidFill>
                  <a:srgbClr val="6B7686"/>
                </a:solidFill>
                <a:latin typeface="Calibri"/>
              </a:rPr>
              <a:t>in productivity</a:t>
            </a:r>
          </a:p>
        </p:txBody>
      </p:sp>
      <p:sp>
        <p:nvSpPr>
          <p:cNvPr id="24" name="Rounded Rectangle 23"/>
          <p:cNvSpPr/>
          <p:nvPr/>
        </p:nvSpPr>
        <p:spPr>
          <a:xfrm>
            <a:off x="548640" y="324612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24612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341985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341985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28" name="TextBox 27"/>
          <p:cNvSpPr txBox="1"/>
          <p:nvPr/>
        </p:nvSpPr>
        <p:spPr>
          <a:xfrm>
            <a:off x="1325880" y="324612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Most Lagos junctions use FIXED-TIME signals — pre-set timers that ignore live traffic.</a:t>
            </a:r>
          </a:p>
        </p:txBody>
      </p:sp>
      <p:sp>
        <p:nvSpPr>
          <p:cNvPr id="29" name="Rounded Rectangle 28"/>
          <p:cNvSpPr/>
          <p:nvPr/>
        </p:nvSpPr>
        <p:spPr>
          <a:xfrm>
            <a:off x="548640" y="406908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406908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4672" y="424281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24281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33" name="TextBox 32"/>
          <p:cNvSpPr txBox="1"/>
          <p:nvPr/>
        </p:nvSpPr>
        <p:spPr>
          <a:xfrm>
            <a:off x="1325880" y="406908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Congestion drives higher fuel use, emissions and air pollution.</a:t>
            </a:r>
          </a:p>
        </p:txBody>
      </p:sp>
      <p:sp>
        <p:nvSpPr>
          <p:cNvPr id="34" name="Rounded Rectangle 33"/>
          <p:cNvSpPr/>
          <p:nvPr/>
        </p:nvSpPr>
        <p:spPr>
          <a:xfrm>
            <a:off x="548640" y="489204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8640" y="4892040"/>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4672" y="5065776"/>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06577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38" name="TextBox 37"/>
          <p:cNvSpPr txBox="1"/>
          <p:nvPr/>
        </p:nvSpPr>
        <p:spPr>
          <a:xfrm>
            <a:off x="1325880" y="489204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AI and reinforcement learning now make adaptive, self-learning signal control feasible.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Problem Statement</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3</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17320"/>
            <a:ext cx="11064240" cy="1371600"/>
          </a:xfrm>
          <a:prstGeom prst="roundRect">
            <a:avLst>
              <a:gd name="adj" fmla="val 6000"/>
            </a:avLst>
          </a:prstGeom>
          <a:solidFill>
            <a:srgbClr val="FCECEC"/>
          </a:solidFill>
          <a:ln w="19050">
            <a:solidFill>
              <a:srgbClr val="D6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417320"/>
            <a:ext cx="10332720" cy="1371600"/>
          </a:xfrm>
          <a:prstGeom prst="rect">
            <a:avLst/>
          </a:prstGeom>
          <a:noFill/>
        </p:spPr>
        <p:txBody>
          <a:bodyPr wrap="square" anchor="ctr">
            <a:spAutoFit/>
          </a:bodyPr>
          <a:lstStyle/>
          <a:p>
            <a:pPr algn="l">
              <a:lnSpc>
                <a:spcPct val="100000"/>
              </a:lnSpc>
            </a:pPr>
            <a:r>
              <a:rPr sz="2200" b="1" i="0">
                <a:solidFill>
                  <a:srgbClr val="D63B3B"/>
                </a:solidFill>
                <a:latin typeface="Calibri"/>
              </a:rPr>
              <a:t>A fixed-time signal is BLIND: it gives the same green whether a road is empty or jammed.</a:t>
            </a:r>
          </a:p>
        </p:txBody>
      </p:sp>
      <p:sp>
        <p:nvSpPr>
          <p:cNvPr id="14" name="Rounded Rectangle 13"/>
          <p:cNvSpPr/>
          <p:nvPr/>
        </p:nvSpPr>
        <p:spPr>
          <a:xfrm>
            <a:off x="548640" y="306324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306324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23697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23697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18" name="TextBox 17"/>
          <p:cNvSpPr txBox="1"/>
          <p:nvPr/>
        </p:nvSpPr>
        <p:spPr>
          <a:xfrm>
            <a:off x="1325880" y="306324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Unnecessary delay off-peak; worse congestion at peak hours.</a:t>
            </a:r>
          </a:p>
        </p:txBody>
      </p:sp>
      <p:sp>
        <p:nvSpPr>
          <p:cNvPr id="19" name="Rounded Rectangle 18"/>
          <p:cNvSpPr/>
          <p:nvPr/>
        </p:nvSpPr>
        <p:spPr>
          <a:xfrm>
            <a:off x="548640" y="388620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388620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4672" y="405993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05993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23" name="TextBox 22"/>
          <p:cNvSpPr txBox="1"/>
          <p:nvPr/>
        </p:nvSpPr>
        <p:spPr>
          <a:xfrm>
            <a:off x="1325880" y="388620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No response to changing demand and no priority for emergency vehicles.</a:t>
            </a:r>
          </a:p>
        </p:txBody>
      </p:sp>
      <p:sp>
        <p:nvSpPr>
          <p:cNvPr id="24" name="Rounded Rectangle 23"/>
          <p:cNvSpPr/>
          <p:nvPr/>
        </p:nvSpPr>
        <p:spPr>
          <a:xfrm>
            <a:off x="548640" y="470916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4709160"/>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4882896"/>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88289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28" name="TextBox 27"/>
          <p:cNvSpPr txBox="1"/>
          <p:nvPr/>
        </p:nvSpPr>
        <p:spPr>
          <a:xfrm>
            <a:off x="1325880" y="470916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Need: an adaptive controller driven by real-time conditions — on affordable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Aim and Objectives</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4</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371600"/>
            <a:ext cx="11064240" cy="914400"/>
          </a:xfrm>
          <a:prstGeom prst="roundRect">
            <a:avLst>
              <a:gd name="adj" fmla="val 8000"/>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371600"/>
            <a:ext cx="10332720" cy="914400"/>
          </a:xfrm>
          <a:prstGeom prst="rect">
            <a:avLst/>
          </a:prstGeom>
          <a:noFill/>
        </p:spPr>
        <p:txBody>
          <a:bodyPr wrap="square" anchor="ctr">
            <a:spAutoFit/>
          </a:bodyPr>
          <a:lstStyle/>
          <a:p>
            <a:pPr algn="l">
              <a:lnSpc>
                <a:spcPct val="100000"/>
              </a:lnSpc>
            </a:pPr>
            <a:r>
              <a:rPr sz="1600" b="1" i="0">
                <a:solidFill>
                  <a:srgbClr val="FFFFFF"/>
                </a:solidFill>
                <a:latin typeface="Calibri"/>
              </a:rPr>
              <a:t>AIM:  Model and evaluate an intelligent traffic light system that adjusts signal timing from real-time conditions using reinforcement learning.</a:t>
            </a:r>
          </a:p>
        </p:txBody>
      </p:sp>
      <p:sp>
        <p:nvSpPr>
          <p:cNvPr id="14" name="Rounded Rectangle 13"/>
          <p:cNvSpPr/>
          <p:nvPr/>
        </p:nvSpPr>
        <p:spPr>
          <a:xfrm>
            <a:off x="548640" y="251460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251460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268833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268833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18" name="TextBox 17"/>
          <p:cNvSpPr txBox="1"/>
          <p:nvPr/>
        </p:nvSpPr>
        <p:spPr>
          <a:xfrm>
            <a:off x="1325880" y="251460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Review fixed-time and AI-based traffic light systems.</a:t>
            </a:r>
          </a:p>
        </p:txBody>
      </p:sp>
      <p:sp>
        <p:nvSpPr>
          <p:cNvPr id="19" name="Rounded Rectangle 18"/>
          <p:cNvSpPr/>
          <p:nvPr/>
        </p:nvSpPr>
        <p:spPr>
          <a:xfrm>
            <a:off x="548640" y="3227832"/>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3227832"/>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4672" y="3401568"/>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401568"/>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23" name="TextBox 22"/>
          <p:cNvSpPr txBox="1"/>
          <p:nvPr/>
        </p:nvSpPr>
        <p:spPr>
          <a:xfrm>
            <a:off x="1325880" y="3227832"/>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Design a traffic state representation and reward function.</a:t>
            </a:r>
          </a:p>
        </p:txBody>
      </p:sp>
      <p:sp>
        <p:nvSpPr>
          <p:cNvPr id="24" name="Rounded Rectangle 23"/>
          <p:cNvSpPr/>
          <p:nvPr/>
        </p:nvSpPr>
        <p:spPr>
          <a:xfrm>
            <a:off x="548640" y="3941064"/>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941064"/>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4114800"/>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114800"/>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28" name="TextBox 27"/>
          <p:cNvSpPr txBox="1"/>
          <p:nvPr/>
        </p:nvSpPr>
        <p:spPr>
          <a:xfrm>
            <a:off x="1325880" y="3941064"/>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Implement a Deep Q-Network (DQN) controller in simulation.</a:t>
            </a:r>
          </a:p>
        </p:txBody>
      </p:sp>
      <p:sp>
        <p:nvSpPr>
          <p:cNvPr id="29" name="Rounded Rectangle 28"/>
          <p:cNvSpPr/>
          <p:nvPr/>
        </p:nvSpPr>
        <p:spPr>
          <a:xfrm>
            <a:off x="548640" y="4654296"/>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4654296"/>
            <a:ext cx="109728" cy="676656"/>
          </a:xfrm>
          <a:prstGeom prst="roundRect">
            <a:avLst>
              <a:gd name="adj" fmla="val 5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4672" y="4828032"/>
            <a:ext cx="329184" cy="32918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828032"/>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4</a:t>
            </a:r>
          </a:p>
        </p:txBody>
      </p:sp>
      <p:sp>
        <p:nvSpPr>
          <p:cNvPr id="33" name="TextBox 32"/>
          <p:cNvSpPr txBox="1"/>
          <p:nvPr/>
        </p:nvSpPr>
        <p:spPr>
          <a:xfrm>
            <a:off x="1325880" y="4654296"/>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Build a realistic SUMO model of a real intersection.</a:t>
            </a:r>
          </a:p>
        </p:txBody>
      </p:sp>
      <p:sp>
        <p:nvSpPr>
          <p:cNvPr id="34" name="Rounded Rectangle 33"/>
          <p:cNvSpPr/>
          <p:nvPr/>
        </p:nvSpPr>
        <p:spPr>
          <a:xfrm>
            <a:off x="548640" y="5367528"/>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8640" y="5367528"/>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4672" y="5541264"/>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541264"/>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5</a:t>
            </a:r>
          </a:p>
        </p:txBody>
      </p:sp>
      <p:sp>
        <p:nvSpPr>
          <p:cNvPr id="38" name="TextBox 37"/>
          <p:cNvSpPr txBox="1"/>
          <p:nvPr/>
        </p:nvSpPr>
        <p:spPr>
          <a:xfrm>
            <a:off x="1325880" y="5367528"/>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Integrate camera-based vehicle detection (YOLO).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Research Questions</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5</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63040"/>
            <a:ext cx="11064240" cy="98755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1682496"/>
            <a:ext cx="548640" cy="548640"/>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82496"/>
            <a:ext cx="548640" cy="548640"/>
          </a:xfrm>
          <a:prstGeom prst="rect">
            <a:avLst/>
          </a:prstGeom>
          <a:noFill/>
        </p:spPr>
        <p:txBody>
          <a:bodyPr wrap="square" anchor="ctr">
            <a:spAutoFit/>
          </a:bodyPr>
          <a:lstStyle/>
          <a:p>
            <a:pPr algn="ctr">
              <a:lnSpc>
                <a:spcPct val="100000"/>
              </a:lnSpc>
            </a:pPr>
            <a:r>
              <a:rPr sz="1600" b="1" i="0">
                <a:solidFill>
                  <a:srgbClr val="FFFFFF"/>
                </a:solidFill>
                <a:latin typeface="Calibri"/>
              </a:rPr>
              <a:t>Q1</a:t>
            </a:r>
          </a:p>
        </p:txBody>
      </p:sp>
      <p:sp>
        <p:nvSpPr>
          <p:cNvPr id="15" name="TextBox 14"/>
          <p:cNvSpPr txBox="1"/>
          <p:nvPr/>
        </p:nvSpPr>
        <p:spPr>
          <a:xfrm>
            <a:off x="1554480" y="1463040"/>
            <a:ext cx="9875520" cy="987552"/>
          </a:xfrm>
          <a:prstGeom prst="rect">
            <a:avLst/>
          </a:prstGeom>
          <a:noFill/>
        </p:spPr>
        <p:txBody>
          <a:bodyPr wrap="square" anchor="ctr">
            <a:spAutoFit/>
          </a:bodyPr>
          <a:lstStyle/>
          <a:p>
            <a:pPr algn="l">
              <a:lnSpc>
                <a:spcPct val="100000"/>
              </a:lnSpc>
            </a:pPr>
            <a:r>
              <a:rPr sz="1700" b="1" i="0">
                <a:solidFill>
                  <a:srgbClr val="222A33"/>
                </a:solidFill>
                <a:latin typeface="Calibri"/>
              </a:rPr>
              <a:t>Can a DQN reduce delay and queues versus fixed-time control at a real junction?</a:t>
            </a:r>
          </a:p>
        </p:txBody>
      </p:sp>
      <p:sp>
        <p:nvSpPr>
          <p:cNvPr id="16" name="Rounded Rectangle 15"/>
          <p:cNvSpPr/>
          <p:nvPr/>
        </p:nvSpPr>
        <p:spPr>
          <a:xfrm>
            <a:off x="548640" y="2633472"/>
            <a:ext cx="11064240" cy="98755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2852928"/>
            <a:ext cx="548640" cy="548640"/>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852928"/>
            <a:ext cx="548640" cy="548640"/>
          </a:xfrm>
          <a:prstGeom prst="rect">
            <a:avLst/>
          </a:prstGeom>
          <a:noFill/>
        </p:spPr>
        <p:txBody>
          <a:bodyPr wrap="square" anchor="ctr">
            <a:spAutoFit/>
          </a:bodyPr>
          <a:lstStyle/>
          <a:p>
            <a:pPr algn="ctr">
              <a:lnSpc>
                <a:spcPct val="100000"/>
              </a:lnSpc>
            </a:pPr>
            <a:r>
              <a:rPr sz="1600" b="1" i="0">
                <a:solidFill>
                  <a:srgbClr val="FFFFFF"/>
                </a:solidFill>
                <a:latin typeface="Calibri"/>
              </a:rPr>
              <a:t>Q2</a:t>
            </a:r>
          </a:p>
        </p:txBody>
      </p:sp>
      <p:sp>
        <p:nvSpPr>
          <p:cNvPr id="19" name="TextBox 18"/>
          <p:cNvSpPr txBox="1"/>
          <p:nvPr/>
        </p:nvSpPr>
        <p:spPr>
          <a:xfrm>
            <a:off x="1554480" y="2633472"/>
            <a:ext cx="9875520" cy="987552"/>
          </a:xfrm>
          <a:prstGeom prst="rect">
            <a:avLst/>
          </a:prstGeom>
          <a:noFill/>
        </p:spPr>
        <p:txBody>
          <a:bodyPr wrap="square" anchor="ctr">
            <a:spAutoFit/>
          </a:bodyPr>
          <a:lstStyle/>
          <a:p>
            <a:pPr algn="l">
              <a:lnSpc>
                <a:spcPct val="100000"/>
              </a:lnSpc>
            </a:pPr>
            <a:r>
              <a:rPr sz="1700" b="1" i="0">
                <a:solidFill>
                  <a:srgbClr val="222A33"/>
                </a:solidFill>
                <a:latin typeface="Calibri"/>
              </a:rPr>
              <a:t>How does it compare against an OPTIMISED timer (Webster) and an ACTUATED controller?</a:t>
            </a:r>
          </a:p>
        </p:txBody>
      </p:sp>
      <p:sp>
        <p:nvSpPr>
          <p:cNvPr id="20" name="Rounded Rectangle 19"/>
          <p:cNvSpPr/>
          <p:nvPr/>
        </p:nvSpPr>
        <p:spPr>
          <a:xfrm>
            <a:off x="548640" y="3803904"/>
            <a:ext cx="11064240" cy="98755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4023360"/>
            <a:ext cx="548640" cy="548640"/>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23360"/>
            <a:ext cx="548640" cy="548640"/>
          </a:xfrm>
          <a:prstGeom prst="rect">
            <a:avLst/>
          </a:prstGeom>
          <a:noFill/>
        </p:spPr>
        <p:txBody>
          <a:bodyPr wrap="square" anchor="ctr">
            <a:spAutoFit/>
          </a:bodyPr>
          <a:lstStyle/>
          <a:p>
            <a:pPr algn="ctr">
              <a:lnSpc>
                <a:spcPct val="100000"/>
              </a:lnSpc>
            </a:pPr>
            <a:r>
              <a:rPr sz="1600" b="1" i="0">
                <a:solidFill>
                  <a:srgbClr val="FFFFFF"/>
                </a:solidFill>
                <a:latin typeface="Calibri"/>
              </a:rPr>
              <a:t>Q3</a:t>
            </a:r>
          </a:p>
        </p:txBody>
      </p:sp>
      <p:sp>
        <p:nvSpPr>
          <p:cNvPr id="23" name="TextBox 22"/>
          <p:cNvSpPr txBox="1"/>
          <p:nvPr/>
        </p:nvSpPr>
        <p:spPr>
          <a:xfrm>
            <a:off x="1554480" y="3803904"/>
            <a:ext cx="9875520" cy="987552"/>
          </a:xfrm>
          <a:prstGeom prst="rect">
            <a:avLst/>
          </a:prstGeom>
          <a:noFill/>
        </p:spPr>
        <p:txBody>
          <a:bodyPr wrap="square" anchor="ctr">
            <a:spAutoFit/>
          </a:bodyPr>
          <a:lstStyle/>
          <a:p>
            <a:pPr algn="l">
              <a:lnSpc>
                <a:spcPct val="100000"/>
              </a:lnSpc>
            </a:pPr>
            <a:r>
              <a:rPr sz="1700" b="1" i="0">
                <a:solidFill>
                  <a:srgbClr val="222A33"/>
                </a:solidFill>
                <a:latin typeface="Calibri"/>
              </a:rPr>
              <a:t>Does the learned policy GENERALISE to different and unseen demand patterns?</a:t>
            </a:r>
          </a:p>
        </p:txBody>
      </p:sp>
      <p:sp>
        <p:nvSpPr>
          <p:cNvPr id="24" name="Rounded Rectangle 23"/>
          <p:cNvSpPr/>
          <p:nvPr/>
        </p:nvSpPr>
        <p:spPr>
          <a:xfrm>
            <a:off x="548640" y="4974336"/>
            <a:ext cx="11064240" cy="98755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5193792"/>
            <a:ext cx="548640" cy="548640"/>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193792"/>
            <a:ext cx="548640" cy="548640"/>
          </a:xfrm>
          <a:prstGeom prst="rect">
            <a:avLst/>
          </a:prstGeom>
          <a:noFill/>
        </p:spPr>
        <p:txBody>
          <a:bodyPr wrap="square" anchor="ctr">
            <a:spAutoFit/>
          </a:bodyPr>
          <a:lstStyle/>
          <a:p>
            <a:pPr algn="ctr">
              <a:lnSpc>
                <a:spcPct val="100000"/>
              </a:lnSpc>
            </a:pPr>
            <a:r>
              <a:rPr sz="1600" b="1" i="0">
                <a:solidFill>
                  <a:srgbClr val="FFFFFF"/>
                </a:solidFill>
                <a:latin typeface="Calibri"/>
              </a:rPr>
              <a:t>Q4</a:t>
            </a:r>
          </a:p>
        </p:txBody>
      </p:sp>
      <p:sp>
        <p:nvSpPr>
          <p:cNvPr id="27" name="TextBox 26"/>
          <p:cNvSpPr txBox="1"/>
          <p:nvPr/>
        </p:nvSpPr>
        <p:spPr>
          <a:xfrm>
            <a:off x="1554480" y="4974336"/>
            <a:ext cx="9875520" cy="987552"/>
          </a:xfrm>
          <a:prstGeom prst="rect">
            <a:avLst/>
          </a:prstGeom>
          <a:noFill/>
        </p:spPr>
        <p:txBody>
          <a:bodyPr wrap="square" anchor="ctr">
            <a:spAutoFit/>
          </a:bodyPr>
          <a:lstStyle/>
          <a:p>
            <a:pPr algn="l">
              <a:lnSpc>
                <a:spcPct val="100000"/>
              </a:lnSpc>
            </a:pPr>
            <a:r>
              <a:rPr sz="1700" b="1" i="0">
                <a:solidFill>
                  <a:srgbClr val="222A33"/>
                </a:solidFill>
                <a:latin typeface="Calibri"/>
              </a:rPr>
              <a:t>Under which conditions is reinforcement-learning control most beneficial?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Literature Review</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6</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17320"/>
            <a:ext cx="3520440" cy="2103120"/>
          </a:xfrm>
          <a:prstGeom prst="roundRect">
            <a:avLst>
              <a:gd name="adj" fmla="val 8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417320"/>
            <a:ext cx="3520440" cy="502920"/>
          </a:xfrm>
          <a:prstGeom prst="roundRect">
            <a:avLst>
              <a:gd name="adj" fmla="val 12000"/>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417320"/>
            <a:ext cx="3520440" cy="502920"/>
          </a:xfrm>
          <a:prstGeom prst="rect">
            <a:avLst/>
          </a:prstGeom>
          <a:noFill/>
        </p:spPr>
        <p:txBody>
          <a:bodyPr wrap="square" anchor="ctr">
            <a:spAutoFit/>
          </a:bodyPr>
          <a:lstStyle/>
          <a:p>
            <a:pPr algn="ctr">
              <a:lnSpc>
                <a:spcPct val="100000"/>
              </a:lnSpc>
            </a:pPr>
            <a:r>
              <a:rPr sz="1500" b="1" i="0">
                <a:solidFill>
                  <a:srgbClr val="FFFFFF"/>
                </a:solidFill>
                <a:latin typeface="Calibri"/>
              </a:rPr>
              <a:t>Fixed-time &amp; Webster</a:t>
            </a:r>
          </a:p>
        </p:txBody>
      </p:sp>
      <p:sp>
        <p:nvSpPr>
          <p:cNvPr id="15" name="TextBox 14"/>
          <p:cNvSpPr txBox="1"/>
          <p:nvPr/>
        </p:nvSpPr>
        <p:spPr>
          <a:xfrm>
            <a:off x="777240" y="2103120"/>
            <a:ext cx="3063240" cy="1280160"/>
          </a:xfrm>
          <a:prstGeom prst="rect">
            <a:avLst/>
          </a:prstGeom>
          <a:noFill/>
        </p:spPr>
        <p:txBody>
          <a:bodyPr wrap="square" anchor="t">
            <a:spAutoFit/>
          </a:bodyPr>
          <a:lstStyle/>
          <a:p>
            <a:pPr algn="l">
              <a:lnSpc>
                <a:spcPct val="100000"/>
              </a:lnSpc>
            </a:pPr>
            <a:r>
              <a:rPr sz="1350" b="0" i="0">
                <a:solidFill>
                  <a:srgbClr val="222A33"/>
                </a:solidFill>
                <a:latin typeface="Calibri"/>
              </a:rPr>
              <a:t>Simple, widely used — but blind to real-time demand.</a:t>
            </a:r>
          </a:p>
        </p:txBody>
      </p:sp>
      <p:sp>
        <p:nvSpPr>
          <p:cNvPr id="16" name="Rounded Rectangle 15"/>
          <p:cNvSpPr/>
          <p:nvPr/>
        </p:nvSpPr>
        <p:spPr>
          <a:xfrm>
            <a:off x="4297679" y="1417320"/>
            <a:ext cx="3520440" cy="2103120"/>
          </a:xfrm>
          <a:prstGeom prst="roundRect">
            <a:avLst>
              <a:gd name="adj" fmla="val 8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97679" y="1417320"/>
            <a:ext cx="3520440" cy="502920"/>
          </a:xfrm>
          <a:prstGeom prst="roundRect">
            <a:avLst>
              <a:gd name="adj" fmla="val 12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79" y="1417320"/>
            <a:ext cx="3520440" cy="502920"/>
          </a:xfrm>
          <a:prstGeom prst="rect">
            <a:avLst/>
          </a:prstGeom>
          <a:noFill/>
        </p:spPr>
        <p:txBody>
          <a:bodyPr wrap="square" anchor="ctr">
            <a:spAutoFit/>
          </a:bodyPr>
          <a:lstStyle/>
          <a:p>
            <a:pPr algn="ctr">
              <a:lnSpc>
                <a:spcPct val="100000"/>
              </a:lnSpc>
            </a:pPr>
            <a:r>
              <a:rPr sz="1500" b="1" i="0">
                <a:solidFill>
                  <a:srgbClr val="FFFFFF"/>
                </a:solidFill>
                <a:latin typeface="Calibri"/>
              </a:rPr>
              <a:t>Actuated control</a:t>
            </a:r>
          </a:p>
        </p:txBody>
      </p:sp>
      <p:sp>
        <p:nvSpPr>
          <p:cNvPr id="19" name="TextBox 18"/>
          <p:cNvSpPr txBox="1"/>
          <p:nvPr/>
        </p:nvSpPr>
        <p:spPr>
          <a:xfrm>
            <a:off x="4526279" y="2103120"/>
            <a:ext cx="3063240" cy="1280160"/>
          </a:xfrm>
          <a:prstGeom prst="rect">
            <a:avLst/>
          </a:prstGeom>
          <a:noFill/>
        </p:spPr>
        <p:txBody>
          <a:bodyPr wrap="square" anchor="t">
            <a:spAutoFit/>
          </a:bodyPr>
          <a:lstStyle/>
          <a:p>
            <a:pPr algn="l">
              <a:lnSpc>
                <a:spcPct val="100000"/>
              </a:lnSpc>
            </a:pPr>
            <a:r>
              <a:rPr sz="1350" b="0" i="0">
                <a:solidFill>
                  <a:srgbClr val="222A33"/>
                </a:solidFill>
                <a:latin typeface="Calibri"/>
              </a:rPr>
              <a:t>Sensor-based; serve the longest queue. Strong but rule-based.</a:t>
            </a:r>
          </a:p>
        </p:txBody>
      </p:sp>
      <p:sp>
        <p:nvSpPr>
          <p:cNvPr id="20" name="Rounded Rectangle 19"/>
          <p:cNvSpPr/>
          <p:nvPr/>
        </p:nvSpPr>
        <p:spPr>
          <a:xfrm>
            <a:off x="8046719" y="1417320"/>
            <a:ext cx="3520440" cy="2103120"/>
          </a:xfrm>
          <a:prstGeom prst="roundRect">
            <a:avLst>
              <a:gd name="adj" fmla="val 8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19" y="1417320"/>
            <a:ext cx="3520440" cy="502920"/>
          </a:xfrm>
          <a:prstGeom prst="roundRect">
            <a:avLst>
              <a:gd name="adj" fmla="val 12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19" y="1417320"/>
            <a:ext cx="3520440" cy="502920"/>
          </a:xfrm>
          <a:prstGeom prst="rect">
            <a:avLst/>
          </a:prstGeom>
          <a:noFill/>
        </p:spPr>
        <p:txBody>
          <a:bodyPr wrap="square" anchor="ctr">
            <a:spAutoFit/>
          </a:bodyPr>
          <a:lstStyle/>
          <a:p>
            <a:pPr algn="ctr">
              <a:lnSpc>
                <a:spcPct val="100000"/>
              </a:lnSpc>
            </a:pPr>
            <a:r>
              <a:rPr sz="1500" b="1" i="0">
                <a:solidFill>
                  <a:srgbClr val="FFFFFF"/>
                </a:solidFill>
                <a:latin typeface="Calibri"/>
              </a:rPr>
              <a:t>Reinforcement learning</a:t>
            </a:r>
          </a:p>
        </p:txBody>
      </p:sp>
      <p:sp>
        <p:nvSpPr>
          <p:cNvPr id="23" name="TextBox 22"/>
          <p:cNvSpPr txBox="1"/>
          <p:nvPr/>
        </p:nvSpPr>
        <p:spPr>
          <a:xfrm>
            <a:off x="8275319" y="2103120"/>
            <a:ext cx="3063240" cy="1280160"/>
          </a:xfrm>
          <a:prstGeom prst="rect">
            <a:avLst/>
          </a:prstGeom>
          <a:noFill/>
        </p:spPr>
        <p:txBody>
          <a:bodyPr wrap="square" anchor="t">
            <a:spAutoFit/>
          </a:bodyPr>
          <a:lstStyle/>
          <a:p>
            <a:pPr algn="l">
              <a:lnSpc>
                <a:spcPct val="100000"/>
              </a:lnSpc>
            </a:pPr>
            <a:r>
              <a:rPr sz="1350" b="0" i="0">
                <a:solidFill>
                  <a:srgbClr val="222A33"/>
                </a:solidFill>
                <a:latin typeface="Calibri"/>
              </a:rPr>
              <a:t>DQN, PressLight, PDLight — state of the art, adaptive.</a:t>
            </a:r>
          </a:p>
        </p:txBody>
      </p:sp>
      <p:sp>
        <p:nvSpPr>
          <p:cNvPr id="24" name="Rounded Rectangle 23"/>
          <p:cNvSpPr/>
          <p:nvPr/>
        </p:nvSpPr>
        <p:spPr>
          <a:xfrm>
            <a:off x="548640" y="3794760"/>
            <a:ext cx="11064240" cy="2194560"/>
          </a:xfrm>
          <a:prstGeom prst="roundRect">
            <a:avLst>
              <a:gd name="adj" fmla="val 5000"/>
            </a:avLst>
          </a:prstGeom>
          <a:solidFill>
            <a:srgbClr val="ECF4EF"/>
          </a:solidFill>
          <a:ln w="19050">
            <a:solidFill>
              <a:srgbClr val="1F9D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950208"/>
            <a:ext cx="10424160" cy="457200"/>
          </a:xfrm>
          <a:prstGeom prst="rect">
            <a:avLst/>
          </a:prstGeom>
          <a:noFill/>
        </p:spPr>
        <p:txBody>
          <a:bodyPr wrap="square" anchor="t">
            <a:spAutoFit/>
          </a:bodyPr>
          <a:lstStyle/>
          <a:p>
            <a:pPr algn="l">
              <a:lnSpc>
                <a:spcPct val="100000"/>
              </a:lnSpc>
            </a:pPr>
            <a:r>
              <a:rPr sz="1500" b="1" i="0">
                <a:solidFill>
                  <a:srgbClr val="1F9D55"/>
                </a:solidFill>
                <a:latin typeface="Calibri"/>
              </a:rPr>
              <a:t>RESEARCH GAP</a:t>
            </a:r>
          </a:p>
        </p:txBody>
      </p:sp>
      <p:sp>
        <p:nvSpPr>
          <p:cNvPr id="26" name="TextBox 25"/>
          <p:cNvSpPr txBox="1"/>
          <p:nvPr/>
        </p:nvSpPr>
        <p:spPr>
          <a:xfrm>
            <a:off x="868680" y="4389120"/>
            <a:ext cx="10424160" cy="1463040"/>
          </a:xfrm>
          <a:prstGeom prst="rect">
            <a:avLst/>
          </a:prstGeom>
          <a:noFill/>
        </p:spPr>
        <p:txBody>
          <a:bodyPr wrap="square" anchor="t">
            <a:spAutoFit/>
          </a:bodyPr>
          <a:lstStyle/>
          <a:p>
            <a:pPr algn="l">
              <a:lnSpc>
                <a:spcPct val="110000"/>
              </a:lnSpc>
            </a:pPr>
            <a:r>
              <a:rPr sz="1600" b="0" i="0">
                <a:solidFill>
                  <a:srgbClr val="222A33"/>
                </a:solidFill>
                <a:latin typeface="Calibri"/>
              </a:rPr>
              <a:t>Most RL studies use abstract/synthetic networks and weak baselines. Few validate on a real, geometry-faithful Lagos junction against STRONG baselines (Webster + actuated), using an accumulated-delay metric that reflects real driver experience.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Methodology &amp; System Architecture</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7</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411480" y="1325880"/>
            <a:ext cx="7635240" cy="3108960"/>
          </a:xfrm>
          <a:prstGeom prst="roundRect">
            <a:avLst>
              <a:gd name="adj" fmla="val 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rchitecture.png"/>
          <p:cNvPicPr>
            <a:picLocks noChangeAspect="1"/>
          </p:cNvPicPr>
          <p:nvPr/>
        </p:nvPicPr>
        <p:blipFill>
          <a:blip r:embed="rId2"/>
          <a:stretch>
            <a:fillRect/>
          </a:stretch>
        </p:blipFill>
        <p:spPr>
          <a:xfrm>
            <a:off x="548640" y="1463040"/>
            <a:ext cx="7360920" cy="3183100"/>
          </a:xfrm>
          <a:prstGeom prst="rect">
            <a:avLst/>
          </a:prstGeom>
        </p:spPr>
      </p:pic>
      <p:sp>
        <p:nvSpPr>
          <p:cNvPr id="14" name="Rounded Rectangle 13"/>
          <p:cNvSpPr/>
          <p:nvPr/>
        </p:nvSpPr>
        <p:spPr>
          <a:xfrm>
            <a:off x="8183879" y="1371600"/>
            <a:ext cx="3520440" cy="8229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3879" y="1371600"/>
            <a:ext cx="109728" cy="822960"/>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44752"/>
            <a:ext cx="3200400" cy="365760"/>
          </a:xfrm>
          <a:prstGeom prst="rect">
            <a:avLst/>
          </a:prstGeom>
          <a:noFill/>
        </p:spPr>
        <p:txBody>
          <a:bodyPr wrap="square" anchor="t">
            <a:spAutoFit/>
          </a:bodyPr>
          <a:lstStyle/>
          <a:p>
            <a:pPr algn="l">
              <a:lnSpc>
                <a:spcPct val="100000"/>
              </a:lnSpc>
            </a:pPr>
            <a:r>
              <a:rPr sz="1450" b="1" i="0">
                <a:solidFill>
                  <a:srgbClr val="222A33"/>
                </a:solidFill>
                <a:latin typeface="Calibri"/>
              </a:rPr>
              <a:t>SUMO + TraCI</a:t>
            </a:r>
          </a:p>
        </p:txBody>
      </p:sp>
      <p:sp>
        <p:nvSpPr>
          <p:cNvPr id="17" name="TextBox 16"/>
          <p:cNvSpPr txBox="1"/>
          <p:nvPr/>
        </p:nvSpPr>
        <p:spPr>
          <a:xfrm>
            <a:off x="8412480" y="1792224"/>
            <a:ext cx="3200400" cy="365760"/>
          </a:xfrm>
          <a:prstGeom prst="rect">
            <a:avLst/>
          </a:prstGeom>
          <a:noFill/>
        </p:spPr>
        <p:txBody>
          <a:bodyPr wrap="square" anchor="t">
            <a:spAutoFit/>
          </a:bodyPr>
          <a:lstStyle/>
          <a:p>
            <a:pPr algn="l">
              <a:lnSpc>
                <a:spcPct val="100000"/>
              </a:lnSpc>
            </a:pPr>
            <a:r>
              <a:rPr sz="1150" b="0" i="0">
                <a:solidFill>
                  <a:srgbClr val="6B7686"/>
                </a:solidFill>
                <a:latin typeface="Calibri"/>
              </a:rPr>
              <a:t>microscopic simulator</a:t>
            </a:r>
          </a:p>
        </p:txBody>
      </p:sp>
      <p:sp>
        <p:nvSpPr>
          <p:cNvPr id="18" name="Rounded Rectangle 17"/>
          <p:cNvSpPr/>
          <p:nvPr/>
        </p:nvSpPr>
        <p:spPr>
          <a:xfrm>
            <a:off x="8183879" y="2304288"/>
            <a:ext cx="3520440" cy="8229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83879" y="2304288"/>
            <a:ext cx="109728" cy="822960"/>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377440"/>
            <a:ext cx="3200400" cy="365760"/>
          </a:xfrm>
          <a:prstGeom prst="rect">
            <a:avLst/>
          </a:prstGeom>
          <a:noFill/>
        </p:spPr>
        <p:txBody>
          <a:bodyPr wrap="square" anchor="t">
            <a:spAutoFit/>
          </a:bodyPr>
          <a:lstStyle/>
          <a:p>
            <a:pPr algn="l">
              <a:lnSpc>
                <a:spcPct val="100000"/>
              </a:lnSpc>
            </a:pPr>
            <a:r>
              <a:rPr sz="1450" b="1" i="0">
                <a:solidFill>
                  <a:srgbClr val="222A33"/>
                </a:solidFill>
                <a:latin typeface="Calibri"/>
              </a:rPr>
              <a:t>Real Ikeja junction</a:t>
            </a:r>
          </a:p>
        </p:txBody>
      </p:sp>
      <p:sp>
        <p:nvSpPr>
          <p:cNvPr id="21" name="TextBox 20"/>
          <p:cNvSpPr txBox="1"/>
          <p:nvPr/>
        </p:nvSpPr>
        <p:spPr>
          <a:xfrm>
            <a:off x="8412480" y="2724912"/>
            <a:ext cx="3200400" cy="365760"/>
          </a:xfrm>
          <a:prstGeom prst="rect">
            <a:avLst/>
          </a:prstGeom>
          <a:noFill/>
        </p:spPr>
        <p:txBody>
          <a:bodyPr wrap="square" anchor="t">
            <a:spAutoFit/>
          </a:bodyPr>
          <a:lstStyle/>
          <a:p>
            <a:pPr algn="l">
              <a:lnSpc>
                <a:spcPct val="100000"/>
              </a:lnSpc>
            </a:pPr>
            <a:r>
              <a:rPr sz="1150" b="0" i="0">
                <a:solidFill>
                  <a:srgbClr val="6B7686"/>
                </a:solidFill>
                <a:latin typeface="Calibri"/>
              </a:rPr>
              <a:t>OpenStreetMap, validated vs satellite</a:t>
            </a:r>
          </a:p>
        </p:txBody>
      </p:sp>
      <p:sp>
        <p:nvSpPr>
          <p:cNvPr id="22" name="Rounded Rectangle 21"/>
          <p:cNvSpPr/>
          <p:nvPr/>
        </p:nvSpPr>
        <p:spPr>
          <a:xfrm>
            <a:off x="8183879" y="3236976"/>
            <a:ext cx="3520440" cy="8229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83879" y="3236976"/>
            <a:ext cx="109728" cy="822960"/>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3310128"/>
            <a:ext cx="3200400" cy="365760"/>
          </a:xfrm>
          <a:prstGeom prst="rect">
            <a:avLst/>
          </a:prstGeom>
          <a:noFill/>
        </p:spPr>
        <p:txBody>
          <a:bodyPr wrap="square" anchor="t">
            <a:spAutoFit/>
          </a:bodyPr>
          <a:lstStyle/>
          <a:p>
            <a:pPr algn="l">
              <a:lnSpc>
                <a:spcPct val="100000"/>
              </a:lnSpc>
            </a:pPr>
            <a:r>
              <a:rPr sz="1450" b="1" i="0">
                <a:solidFill>
                  <a:srgbClr val="222A33"/>
                </a:solidFill>
                <a:latin typeface="Calibri"/>
              </a:rPr>
              <a:t>YOLO vision</a:t>
            </a:r>
          </a:p>
        </p:txBody>
      </p:sp>
      <p:sp>
        <p:nvSpPr>
          <p:cNvPr id="25" name="TextBox 24"/>
          <p:cNvSpPr txBox="1"/>
          <p:nvPr/>
        </p:nvSpPr>
        <p:spPr>
          <a:xfrm>
            <a:off x="8412480" y="3657600"/>
            <a:ext cx="3200400" cy="365760"/>
          </a:xfrm>
          <a:prstGeom prst="rect">
            <a:avLst/>
          </a:prstGeom>
          <a:noFill/>
        </p:spPr>
        <p:txBody>
          <a:bodyPr wrap="square" anchor="t">
            <a:spAutoFit/>
          </a:bodyPr>
          <a:lstStyle/>
          <a:p>
            <a:pPr algn="l">
              <a:lnSpc>
                <a:spcPct val="100000"/>
              </a:lnSpc>
            </a:pPr>
            <a:r>
              <a:rPr sz="1150" b="0" i="0">
                <a:solidFill>
                  <a:srgbClr val="6B7686"/>
                </a:solidFill>
                <a:latin typeface="Calibri"/>
              </a:rPr>
              <a:t>camera-based vehicle detection</a:t>
            </a:r>
          </a:p>
        </p:txBody>
      </p:sp>
      <p:sp>
        <p:nvSpPr>
          <p:cNvPr id="26" name="Rounded Rectangle 25"/>
          <p:cNvSpPr/>
          <p:nvPr/>
        </p:nvSpPr>
        <p:spPr>
          <a:xfrm>
            <a:off x="8183879" y="4169664"/>
            <a:ext cx="3520440" cy="8229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83879" y="4169664"/>
            <a:ext cx="109728" cy="822960"/>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4242816"/>
            <a:ext cx="3200400" cy="365760"/>
          </a:xfrm>
          <a:prstGeom prst="rect">
            <a:avLst/>
          </a:prstGeom>
          <a:noFill/>
        </p:spPr>
        <p:txBody>
          <a:bodyPr wrap="square" anchor="t">
            <a:spAutoFit/>
          </a:bodyPr>
          <a:lstStyle/>
          <a:p>
            <a:pPr algn="l">
              <a:lnSpc>
                <a:spcPct val="100000"/>
              </a:lnSpc>
            </a:pPr>
            <a:r>
              <a:rPr sz="1450" b="1" i="0">
                <a:solidFill>
                  <a:srgbClr val="222A33"/>
                </a:solidFill>
                <a:latin typeface="Calibri"/>
              </a:rPr>
              <a:t>Double DQN</a:t>
            </a:r>
          </a:p>
        </p:txBody>
      </p:sp>
      <p:sp>
        <p:nvSpPr>
          <p:cNvPr id="29" name="TextBox 28"/>
          <p:cNvSpPr txBox="1"/>
          <p:nvPr/>
        </p:nvSpPr>
        <p:spPr>
          <a:xfrm>
            <a:off x="8412480" y="4590288"/>
            <a:ext cx="3200400" cy="365760"/>
          </a:xfrm>
          <a:prstGeom prst="rect">
            <a:avLst/>
          </a:prstGeom>
          <a:noFill/>
        </p:spPr>
        <p:txBody>
          <a:bodyPr wrap="square" anchor="t">
            <a:spAutoFit/>
          </a:bodyPr>
          <a:lstStyle/>
          <a:p>
            <a:pPr algn="l">
              <a:lnSpc>
                <a:spcPct val="100000"/>
              </a:lnSpc>
            </a:pPr>
            <a:r>
              <a:rPr sz="1150" b="0" i="0">
                <a:solidFill>
                  <a:srgbClr val="6B7686"/>
                </a:solidFill>
                <a:latin typeface="Calibri"/>
              </a:rPr>
              <a:t>+ prioritised experience replay</a:t>
            </a:r>
          </a:p>
        </p:txBody>
      </p:sp>
      <p:sp>
        <p:nvSpPr>
          <p:cNvPr id="30" name="Rounded Rectangle 29"/>
          <p:cNvSpPr/>
          <p:nvPr/>
        </p:nvSpPr>
        <p:spPr>
          <a:xfrm>
            <a:off x="8183879" y="5102352"/>
            <a:ext cx="3520440" cy="8229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83879" y="5102352"/>
            <a:ext cx="109728" cy="822960"/>
          </a:xfrm>
          <a:prstGeom prst="roundRect">
            <a:avLst>
              <a:gd name="adj" fmla="val 5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0" y="5175504"/>
            <a:ext cx="3200400" cy="365760"/>
          </a:xfrm>
          <a:prstGeom prst="rect">
            <a:avLst/>
          </a:prstGeom>
          <a:noFill/>
        </p:spPr>
        <p:txBody>
          <a:bodyPr wrap="square" anchor="t">
            <a:spAutoFit/>
          </a:bodyPr>
          <a:lstStyle/>
          <a:p>
            <a:pPr algn="l">
              <a:lnSpc>
                <a:spcPct val="100000"/>
              </a:lnSpc>
            </a:pPr>
            <a:r>
              <a:rPr sz="1450" b="1" i="0">
                <a:solidFill>
                  <a:srgbClr val="222A33"/>
                </a:solidFill>
                <a:latin typeface="Calibri"/>
              </a:rPr>
              <a:t>3 baselines</a:t>
            </a:r>
          </a:p>
        </p:txBody>
      </p:sp>
      <p:sp>
        <p:nvSpPr>
          <p:cNvPr id="33" name="TextBox 32"/>
          <p:cNvSpPr txBox="1"/>
          <p:nvPr/>
        </p:nvSpPr>
        <p:spPr>
          <a:xfrm>
            <a:off x="8412480" y="5522976"/>
            <a:ext cx="3200400" cy="365760"/>
          </a:xfrm>
          <a:prstGeom prst="rect">
            <a:avLst/>
          </a:prstGeom>
          <a:noFill/>
        </p:spPr>
        <p:txBody>
          <a:bodyPr wrap="square" anchor="t">
            <a:spAutoFit/>
          </a:bodyPr>
          <a:lstStyle/>
          <a:p>
            <a:pPr algn="l">
              <a:lnSpc>
                <a:spcPct val="100000"/>
              </a:lnSpc>
            </a:pPr>
            <a:r>
              <a:rPr sz="1150" b="0" i="0">
                <a:solidFill>
                  <a:srgbClr val="6B7686"/>
                </a:solidFill>
                <a:latin typeface="Calibri"/>
              </a:rPr>
              <a:t>fixed-time, Webster, actuated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System Design &amp; Implementation</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8</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7040880" y="1371600"/>
            <a:ext cx="4663440" cy="2743200"/>
          </a:xfrm>
          <a:prstGeom prst="roundRect">
            <a:avLst>
              <a:gd name="adj" fmla="val 5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l_loop.png"/>
          <p:cNvPicPr>
            <a:picLocks noChangeAspect="1"/>
          </p:cNvPicPr>
          <p:nvPr/>
        </p:nvPicPr>
        <p:blipFill>
          <a:blip r:embed="rId2"/>
          <a:stretch>
            <a:fillRect/>
          </a:stretch>
        </p:blipFill>
        <p:spPr>
          <a:xfrm>
            <a:off x="7178040" y="1508760"/>
            <a:ext cx="4389120" cy="2383199"/>
          </a:xfrm>
          <a:prstGeom prst="rect">
            <a:avLst/>
          </a:prstGeom>
        </p:spPr>
      </p:pic>
      <p:sp>
        <p:nvSpPr>
          <p:cNvPr id="14" name="Rounded Rectangle 13"/>
          <p:cNvSpPr/>
          <p:nvPr/>
        </p:nvSpPr>
        <p:spPr>
          <a:xfrm>
            <a:off x="502920" y="1417320"/>
            <a:ext cx="6309360" cy="80467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1417320"/>
            <a:ext cx="1325880" cy="804672"/>
          </a:xfrm>
          <a:prstGeom prst="roundRect">
            <a:avLst>
              <a:gd name="adj" fmla="val 1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417320"/>
            <a:ext cx="1325880" cy="804672"/>
          </a:xfrm>
          <a:prstGeom prst="rect">
            <a:avLst/>
          </a:prstGeom>
          <a:noFill/>
        </p:spPr>
        <p:txBody>
          <a:bodyPr wrap="square" anchor="ctr">
            <a:spAutoFit/>
          </a:bodyPr>
          <a:lstStyle/>
          <a:p>
            <a:pPr algn="ctr">
              <a:lnSpc>
                <a:spcPct val="100000"/>
              </a:lnSpc>
            </a:pPr>
            <a:r>
              <a:rPr sz="1300" b="1" i="0">
                <a:solidFill>
                  <a:srgbClr val="FFFFFF"/>
                </a:solidFill>
                <a:latin typeface="Calibri"/>
              </a:rPr>
              <a:t>STATE</a:t>
            </a:r>
          </a:p>
        </p:txBody>
      </p:sp>
      <p:sp>
        <p:nvSpPr>
          <p:cNvPr id="17" name="TextBox 16"/>
          <p:cNvSpPr txBox="1"/>
          <p:nvPr/>
        </p:nvSpPr>
        <p:spPr>
          <a:xfrm>
            <a:off x="1965960" y="1417320"/>
            <a:ext cx="4663440" cy="804672"/>
          </a:xfrm>
          <a:prstGeom prst="rect">
            <a:avLst/>
          </a:prstGeom>
          <a:noFill/>
        </p:spPr>
        <p:txBody>
          <a:bodyPr wrap="square" anchor="ctr">
            <a:spAutoFit/>
          </a:bodyPr>
          <a:lstStyle/>
          <a:p>
            <a:pPr algn="l">
              <a:lnSpc>
                <a:spcPct val="100000"/>
              </a:lnSpc>
            </a:pPr>
            <a:r>
              <a:rPr sz="1300" b="0" i="0">
                <a:solidFill>
                  <a:srgbClr val="222A33"/>
                </a:solidFill>
                <a:latin typeface="Calibri"/>
              </a:rPr>
              <a:t>14 features — queue, accumulated wait, density / approach + phase</a:t>
            </a:r>
          </a:p>
        </p:txBody>
      </p:sp>
      <p:sp>
        <p:nvSpPr>
          <p:cNvPr id="18" name="Rounded Rectangle 17"/>
          <p:cNvSpPr/>
          <p:nvPr/>
        </p:nvSpPr>
        <p:spPr>
          <a:xfrm>
            <a:off x="502920" y="2331720"/>
            <a:ext cx="6309360" cy="80467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2331720"/>
            <a:ext cx="1325880" cy="804672"/>
          </a:xfrm>
          <a:prstGeom prst="roundRect">
            <a:avLst>
              <a:gd name="adj" fmla="val 1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331720"/>
            <a:ext cx="1325880" cy="804672"/>
          </a:xfrm>
          <a:prstGeom prst="rect">
            <a:avLst/>
          </a:prstGeom>
          <a:noFill/>
        </p:spPr>
        <p:txBody>
          <a:bodyPr wrap="square" anchor="ctr">
            <a:spAutoFit/>
          </a:bodyPr>
          <a:lstStyle/>
          <a:p>
            <a:pPr algn="ctr">
              <a:lnSpc>
                <a:spcPct val="100000"/>
              </a:lnSpc>
            </a:pPr>
            <a:r>
              <a:rPr sz="1300" b="1" i="0">
                <a:solidFill>
                  <a:srgbClr val="FFFFFF"/>
                </a:solidFill>
                <a:latin typeface="Calibri"/>
              </a:rPr>
              <a:t>ACTION</a:t>
            </a:r>
          </a:p>
        </p:txBody>
      </p:sp>
      <p:sp>
        <p:nvSpPr>
          <p:cNvPr id="21" name="TextBox 20"/>
          <p:cNvSpPr txBox="1"/>
          <p:nvPr/>
        </p:nvSpPr>
        <p:spPr>
          <a:xfrm>
            <a:off x="1965960" y="2331720"/>
            <a:ext cx="4663440" cy="804672"/>
          </a:xfrm>
          <a:prstGeom prst="rect">
            <a:avLst/>
          </a:prstGeom>
          <a:noFill/>
        </p:spPr>
        <p:txBody>
          <a:bodyPr wrap="square" anchor="ctr">
            <a:spAutoFit/>
          </a:bodyPr>
          <a:lstStyle/>
          <a:p>
            <a:pPr algn="l">
              <a:lnSpc>
                <a:spcPct val="100000"/>
              </a:lnSpc>
            </a:pPr>
            <a:r>
              <a:rPr sz="1300" b="0" i="0">
                <a:solidFill>
                  <a:srgbClr val="222A33"/>
                </a:solidFill>
                <a:latin typeface="Calibri"/>
              </a:rPr>
              <a:t>choose the green phase (2-phase or 4-phase signal)</a:t>
            </a:r>
          </a:p>
        </p:txBody>
      </p:sp>
      <p:sp>
        <p:nvSpPr>
          <p:cNvPr id="22" name="Rounded Rectangle 21"/>
          <p:cNvSpPr/>
          <p:nvPr/>
        </p:nvSpPr>
        <p:spPr>
          <a:xfrm>
            <a:off x="502920" y="3246120"/>
            <a:ext cx="6309360" cy="80467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3246120"/>
            <a:ext cx="1325880" cy="804672"/>
          </a:xfrm>
          <a:prstGeom prst="roundRect">
            <a:avLst>
              <a:gd name="adj" fmla="val 1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246120"/>
            <a:ext cx="1325880" cy="804672"/>
          </a:xfrm>
          <a:prstGeom prst="rect">
            <a:avLst/>
          </a:prstGeom>
          <a:noFill/>
        </p:spPr>
        <p:txBody>
          <a:bodyPr wrap="square" anchor="ctr">
            <a:spAutoFit/>
          </a:bodyPr>
          <a:lstStyle/>
          <a:p>
            <a:pPr algn="ctr">
              <a:lnSpc>
                <a:spcPct val="100000"/>
              </a:lnSpc>
            </a:pPr>
            <a:r>
              <a:rPr sz="1300" b="1" i="0">
                <a:solidFill>
                  <a:srgbClr val="FFFFFF"/>
                </a:solidFill>
                <a:latin typeface="Calibri"/>
              </a:rPr>
              <a:t>REWARD</a:t>
            </a:r>
          </a:p>
        </p:txBody>
      </p:sp>
      <p:sp>
        <p:nvSpPr>
          <p:cNvPr id="25" name="TextBox 24"/>
          <p:cNvSpPr txBox="1"/>
          <p:nvPr/>
        </p:nvSpPr>
        <p:spPr>
          <a:xfrm>
            <a:off x="1965960" y="3246120"/>
            <a:ext cx="4663440" cy="804672"/>
          </a:xfrm>
          <a:prstGeom prst="rect">
            <a:avLst/>
          </a:prstGeom>
          <a:noFill/>
        </p:spPr>
        <p:txBody>
          <a:bodyPr wrap="square" anchor="ctr">
            <a:spAutoFit/>
          </a:bodyPr>
          <a:lstStyle/>
          <a:p>
            <a:pPr algn="l">
              <a:lnSpc>
                <a:spcPct val="100000"/>
              </a:lnSpc>
            </a:pPr>
            <a:r>
              <a:rPr sz="1300" b="0" i="0">
                <a:solidFill>
                  <a:srgbClr val="222A33"/>
                </a:solidFill>
                <a:latin typeface="Calibri"/>
              </a:rPr>
              <a:t>−(queue + weighted accumulated wait) − switch penalty</a:t>
            </a:r>
          </a:p>
        </p:txBody>
      </p:sp>
      <p:sp>
        <p:nvSpPr>
          <p:cNvPr id="26" name="Rounded Rectangle 25"/>
          <p:cNvSpPr/>
          <p:nvPr/>
        </p:nvSpPr>
        <p:spPr>
          <a:xfrm>
            <a:off x="502920" y="4160520"/>
            <a:ext cx="6309360" cy="804672"/>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4160520"/>
            <a:ext cx="1325880" cy="804672"/>
          </a:xfrm>
          <a:prstGeom prst="roundRect">
            <a:avLst>
              <a:gd name="adj" fmla="val 1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160520"/>
            <a:ext cx="1325880" cy="804672"/>
          </a:xfrm>
          <a:prstGeom prst="rect">
            <a:avLst/>
          </a:prstGeom>
          <a:noFill/>
        </p:spPr>
        <p:txBody>
          <a:bodyPr wrap="square" anchor="ctr">
            <a:spAutoFit/>
          </a:bodyPr>
          <a:lstStyle/>
          <a:p>
            <a:pPr algn="ctr">
              <a:lnSpc>
                <a:spcPct val="100000"/>
              </a:lnSpc>
            </a:pPr>
            <a:r>
              <a:rPr sz="1300" b="1" i="0">
                <a:solidFill>
                  <a:srgbClr val="FFFFFF"/>
                </a:solidFill>
                <a:latin typeface="Calibri"/>
              </a:rPr>
              <a:t>LEARNING</a:t>
            </a:r>
          </a:p>
        </p:txBody>
      </p:sp>
      <p:sp>
        <p:nvSpPr>
          <p:cNvPr id="29" name="TextBox 28"/>
          <p:cNvSpPr txBox="1"/>
          <p:nvPr/>
        </p:nvSpPr>
        <p:spPr>
          <a:xfrm>
            <a:off x="1965960" y="4160520"/>
            <a:ext cx="4663440" cy="804672"/>
          </a:xfrm>
          <a:prstGeom prst="rect">
            <a:avLst/>
          </a:prstGeom>
          <a:noFill/>
        </p:spPr>
        <p:txBody>
          <a:bodyPr wrap="square" anchor="ctr">
            <a:spAutoFit/>
          </a:bodyPr>
          <a:lstStyle/>
          <a:p>
            <a:pPr algn="l">
              <a:lnSpc>
                <a:spcPct val="100000"/>
              </a:lnSpc>
            </a:pPr>
            <a:r>
              <a:rPr sz="1300" b="0" i="0">
                <a:solidFill>
                  <a:srgbClr val="222A33"/>
                </a:solidFill>
                <a:latin typeface="Calibri"/>
              </a:rPr>
              <a:t>ε-greedy · target network · γ = 0.99</a:t>
            </a:r>
          </a:p>
        </p:txBody>
      </p:sp>
      <p:sp>
        <p:nvSpPr>
          <p:cNvPr id="30" name="TextBox 29"/>
          <p:cNvSpPr txBox="1"/>
          <p:nvPr/>
        </p:nvSpPr>
        <p:spPr>
          <a:xfrm>
            <a:off x="7040880" y="4297680"/>
            <a:ext cx="4663440" cy="457200"/>
          </a:xfrm>
          <a:prstGeom prst="rect">
            <a:avLst/>
          </a:prstGeom>
          <a:noFill/>
        </p:spPr>
        <p:txBody>
          <a:bodyPr wrap="square" anchor="t">
            <a:spAutoFit/>
          </a:bodyPr>
          <a:lstStyle/>
          <a:p>
            <a:pPr algn="ctr">
              <a:lnSpc>
                <a:spcPct val="100000"/>
              </a:lnSpc>
            </a:pPr>
            <a:r>
              <a:rPr sz="1300" b="0" i="1">
                <a:solidFill>
                  <a:srgbClr val="6B7686"/>
                </a:solidFill>
                <a:latin typeface="Calibri"/>
              </a:rPr>
              <a:t>Stack: Python · PyTorch · YOLO · SUMO · Raspberry Pi/GPIO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Results — Two-Phase Control</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9</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411480" y="1280160"/>
            <a:ext cx="7772400" cy="4480560"/>
          </a:xfrm>
          <a:prstGeom prst="roundRect">
            <a:avLst>
              <a:gd name="adj" fmla="val 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aseline_comparison.png"/>
          <p:cNvPicPr>
            <a:picLocks noChangeAspect="1"/>
          </p:cNvPicPr>
          <p:nvPr/>
        </p:nvPicPr>
        <p:blipFill>
          <a:blip r:embed="rId2"/>
          <a:stretch>
            <a:fillRect/>
          </a:stretch>
        </p:blipFill>
        <p:spPr>
          <a:xfrm>
            <a:off x="548640" y="2286000"/>
            <a:ext cx="7498079" cy="2554901"/>
          </a:xfrm>
          <a:prstGeom prst="rect">
            <a:avLst/>
          </a:prstGeom>
        </p:spPr>
      </p:pic>
      <p:sp>
        <p:nvSpPr>
          <p:cNvPr id="14" name="TextBox 13"/>
          <p:cNvSpPr txBox="1"/>
          <p:nvPr/>
        </p:nvSpPr>
        <p:spPr>
          <a:xfrm>
            <a:off x="548640" y="1417320"/>
            <a:ext cx="7498079" cy="822960"/>
          </a:xfrm>
          <a:prstGeom prst="rect">
            <a:avLst/>
          </a:prstGeom>
          <a:noFill/>
        </p:spPr>
        <p:txBody>
          <a:bodyPr wrap="square" anchor="t">
            <a:spAutoFit/>
          </a:bodyPr>
          <a:lstStyle/>
          <a:p>
            <a:pPr algn="l">
              <a:lnSpc>
                <a:spcPct val="100000"/>
              </a:lnSpc>
            </a:pPr>
            <a:r>
              <a:rPr sz="1400" b="1" i="0">
                <a:solidFill>
                  <a:srgbClr val="222A33"/>
                </a:solidFill>
                <a:latin typeface="Calibri"/>
              </a:rPr>
              <a:t>On a conventional two-phase signal, the DQN beat EVERY baseline — lower queues, lower delay, higher throughput.</a:t>
            </a:r>
          </a:p>
        </p:txBody>
      </p:sp>
      <p:sp>
        <p:nvSpPr>
          <p:cNvPr id="15" name="Rounded Rectangle 14"/>
          <p:cNvSpPr/>
          <p:nvPr/>
        </p:nvSpPr>
        <p:spPr>
          <a:xfrm>
            <a:off x="8366760" y="1371600"/>
            <a:ext cx="3291840" cy="137160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66760" y="1371600"/>
            <a:ext cx="3291840" cy="12801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645920"/>
            <a:ext cx="3291840" cy="822960"/>
          </a:xfrm>
          <a:prstGeom prst="rect">
            <a:avLst/>
          </a:prstGeom>
          <a:noFill/>
        </p:spPr>
        <p:txBody>
          <a:bodyPr wrap="square" anchor="t">
            <a:spAutoFit/>
          </a:bodyPr>
          <a:lstStyle/>
          <a:p>
            <a:pPr algn="ctr">
              <a:lnSpc>
                <a:spcPct val="100000"/>
              </a:lnSpc>
            </a:pPr>
            <a:r>
              <a:rPr sz="4000" b="1" i="0">
                <a:solidFill>
                  <a:srgbClr val="1F9D55"/>
                </a:solidFill>
                <a:latin typeface="Calibri"/>
              </a:rPr>
              <a:t>−69%</a:t>
            </a:r>
          </a:p>
        </p:txBody>
      </p:sp>
      <p:sp>
        <p:nvSpPr>
          <p:cNvPr id="18" name="TextBox 17"/>
          <p:cNvSpPr txBox="1"/>
          <p:nvPr/>
        </p:nvSpPr>
        <p:spPr>
          <a:xfrm>
            <a:off x="8366760" y="2176272"/>
            <a:ext cx="3291840" cy="457200"/>
          </a:xfrm>
          <a:prstGeom prst="rect">
            <a:avLst/>
          </a:prstGeom>
          <a:noFill/>
        </p:spPr>
        <p:txBody>
          <a:bodyPr wrap="square" anchor="t">
            <a:spAutoFit/>
          </a:bodyPr>
          <a:lstStyle/>
          <a:p>
            <a:pPr algn="ctr">
              <a:lnSpc>
                <a:spcPct val="100000"/>
              </a:lnSpc>
            </a:pPr>
            <a:r>
              <a:rPr sz="1300" b="1" i="0">
                <a:solidFill>
                  <a:srgbClr val="6B7686"/>
                </a:solidFill>
                <a:latin typeface="Calibri"/>
              </a:rPr>
              <a:t>delay vs Naive fixed-time</a:t>
            </a:r>
          </a:p>
        </p:txBody>
      </p:sp>
      <p:sp>
        <p:nvSpPr>
          <p:cNvPr id="19" name="Rounded Rectangle 18"/>
          <p:cNvSpPr/>
          <p:nvPr/>
        </p:nvSpPr>
        <p:spPr>
          <a:xfrm>
            <a:off x="8366760" y="2880360"/>
            <a:ext cx="3291840" cy="137160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66760" y="2880360"/>
            <a:ext cx="3291840" cy="12801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3154680"/>
            <a:ext cx="3291840" cy="822960"/>
          </a:xfrm>
          <a:prstGeom prst="rect">
            <a:avLst/>
          </a:prstGeom>
          <a:noFill/>
        </p:spPr>
        <p:txBody>
          <a:bodyPr wrap="square" anchor="t">
            <a:spAutoFit/>
          </a:bodyPr>
          <a:lstStyle/>
          <a:p>
            <a:pPr algn="ctr">
              <a:lnSpc>
                <a:spcPct val="100000"/>
              </a:lnSpc>
            </a:pPr>
            <a:r>
              <a:rPr sz="4000" b="1" i="0">
                <a:solidFill>
                  <a:srgbClr val="1B327A"/>
                </a:solidFill>
                <a:latin typeface="Calibri"/>
              </a:rPr>
              <a:t>−60%</a:t>
            </a:r>
          </a:p>
        </p:txBody>
      </p:sp>
      <p:sp>
        <p:nvSpPr>
          <p:cNvPr id="22" name="TextBox 21"/>
          <p:cNvSpPr txBox="1"/>
          <p:nvPr/>
        </p:nvSpPr>
        <p:spPr>
          <a:xfrm>
            <a:off x="8366760" y="3685032"/>
            <a:ext cx="3291840" cy="457200"/>
          </a:xfrm>
          <a:prstGeom prst="rect">
            <a:avLst/>
          </a:prstGeom>
          <a:noFill/>
        </p:spPr>
        <p:txBody>
          <a:bodyPr wrap="square" anchor="t">
            <a:spAutoFit/>
          </a:bodyPr>
          <a:lstStyle/>
          <a:p>
            <a:pPr algn="ctr">
              <a:lnSpc>
                <a:spcPct val="100000"/>
              </a:lnSpc>
            </a:pPr>
            <a:r>
              <a:rPr sz="1300" b="1" i="0">
                <a:solidFill>
                  <a:srgbClr val="6B7686"/>
                </a:solidFill>
                <a:latin typeface="Calibri"/>
              </a:rPr>
              <a:t>delay vs Webster-optimal</a:t>
            </a:r>
          </a:p>
        </p:txBody>
      </p:sp>
      <p:sp>
        <p:nvSpPr>
          <p:cNvPr id="23" name="Rounded Rectangle 22"/>
          <p:cNvSpPr/>
          <p:nvPr/>
        </p:nvSpPr>
        <p:spPr>
          <a:xfrm>
            <a:off x="8366760" y="4389120"/>
            <a:ext cx="3291840" cy="137160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66760" y="4389120"/>
            <a:ext cx="3291840" cy="12801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4663440"/>
            <a:ext cx="3291840" cy="822960"/>
          </a:xfrm>
          <a:prstGeom prst="rect">
            <a:avLst/>
          </a:prstGeom>
          <a:noFill/>
        </p:spPr>
        <p:txBody>
          <a:bodyPr wrap="square" anchor="t">
            <a:spAutoFit/>
          </a:bodyPr>
          <a:lstStyle/>
          <a:p>
            <a:pPr algn="ctr">
              <a:lnSpc>
                <a:spcPct val="100000"/>
              </a:lnSpc>
            </a:pPr>
            <a:r>
              <a:rPr sz="4000" b="1" i="0">
                <a:solidFill>
                  <a:srgbClr val="F2A82B"/>
                </a:solidFill>
                <a:latin typeface="Calibri"/>
              </a:rPr>
              <a:t>−76%</a:t>
            </a:r>
          </a:p>
        </p:txBody>
      </p:sp>
      <p:sp>
        <p:nvSpPr>
          <p:cNvPr id="26" name="TextBox 25"/>
          <p:cNvSpPr txBox="1"/>
          <p:nvPr/>
        </p:nvSpPr>
        <p:spPr>
          <a:xfrm>
            <a:off x="8366760" y="5193792"/>
            <a:ext cx="3291840" cy="457200"/>
          </a:xfrm>
          <a:prstGeom prst="rect">
            <a:avLst/>
          </a:prstGeom>
          <a:noFill/>
        </p:spPr>
        <p:txBody>
          <a:bodyPr wrap="square" anchor="t">
            <a:spAutoFit/>
          </a:bodyPr>
          <a:lstStyle/>
          <a:p>
            <a:pPr algn="ctr">
              <a:lnSpc>
                <a:spcPct val="100000"/>
              </a:lnSpc>
            </a:pPr>
            <a:r>
              <a:rPr sz="1300" b="1" i="0">
                <a:solidFill>
                  <a:srgbClr val="6B7686"/>
                </a:solidFill>
                <a:latin typeface="Calibri"/>
              </a:rPr>
              <a:t>delay vs Actuated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Results — Effect of Signal Architecture</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10</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411480" y="1325880"/>
            <a:ext cx="7589520" cy="4206240"/>
          </a:xfrm>
          <a:prstGeom prst="roundRect">
            <a:avLst>
              <a:gd name="adj" fmla="val 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qn_vs_actuated.png"/>
          <p:cNvPicPr>
            <a:picLocks noChangeAspect="1"/>
          </p:cNvPicPr>
          <p:nvPr/>
        </p:nvPicPr>
        <p:blipFill>
          <a:blip r:embed="rId2"/>
          <a:stretch>
            <a:fillRect/>
          </a:stretch>
        </p:blipFill>
        <p:spPr>
          <a:xfrm>
            <a:off x="548640" y="1554480"/>
            <a:ext cx="7315200" cy="3738880"/>
          </a:xfrm>
          <a:prstGeom prst="rect">
            <a:avLst/>
          </a:prstGeom>
        </p:spPr>
      </p:pic>
      <p:sp>
        <p:nvSpPr>
          <p:cNvPr id="14" name="Rounded Rectangle 13"/>
          <p:cNvSpPr/>
          <p:nvPr/>
        </p:nvSpPr>
        <p:spPr>
          <a:xfrm>
            <a:off x="8183879" y="1417320"/>
            <a:ext cx="3520440" cy="1965960"/>
          </a:xfrm>
          <a:prstGeom prst="roundRect">
            <a:avLst>
              <a:gd name="adj" fmla="val 7000"/>
            </a:avLst>
          </a:prstGeom>
          <a:solidFill>
            <a:srgbClr val="ECF4EF"/>
          </a:solidFill>
          <a:ln w="16510">
            <a:solidFill>
              <a:srgbClr val="1F9D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554480"/>
            <a:ext cx="3108960" cy="457200"/>
          </a:xfrm>
          <a:prstGeom prst="rect">
            <a:avLst/>
          </a:prstGeom>
          <a:noFill/>
        </p:spPr>
        <p:txBody>
          <a:bodyPr wrap="square" anchor="t">
            <a:spAutoFit/>
          </a:bodyPr>
          <a:lstStyle/>
          <a:p>
            <a:pPr algn="l">
              <a:lnSpc>
                <a:spcPct val="100000"/>
              </a:lnSpc>
            </a:pPr>
            <a:r>
              <a:rPr sz="1400" b="1" i="0">
                <a:solidFill>
                  <a:srgbClr val="1F9D55"/>
                </a:solidFill>
                <a:latin typeface="Calibri"/>
              </a:rPr>
              <a:t>TWO-PHASE</a:t>
            </a:r>
          </a:p>
        </p:txBody>
      </p:sp>
      <p:sp>
        <p:nvSpPr>
          <p:cNvPr id="16" name="TextBox 15"/>
          <p:cNvSpPr txBox="1"/>
          <p:nvPr/>
        </p:nvSpPr>
        <p:spPr>
          <a:xfrm>
            <a:off x="8412480" y="1965960"/>
            <a:ext cx="3108960" cy="1371600"/>
          </a:xfrm>
          <a:prstGeom prst="rect">
            <a:avLst/>
          </a:prstGeom>
          <a:noFill/>
        </p:spPr>
        <p:txBody>
          <a:bodyPr wrap="square" anchor="t">
            <a:spAutoFit/>
          </a:bodyPr>
          <a:lstStyle/>
          <a:p>
            <a:pPr algn="l">
              <a:lnSpc>
                <a:spcPct val="100000"/>
              </a:lnSpc>
            </a:pPr>
            <a:r>
              <a:rPr sz="1400" b="0" i="0">
                <a:solidFill>
                  <a:srgbClr val="222A33"/>
                </a:solidFill>
                <a:latin typeface="Calibri"/>
              </a:rPr>
              <a:t>Beats fixed-time, Webster AND actuated — across all demand.</a:t>
            </a:r>
          </a:p>
        </p:txBody>
      </p:sp>
      <p:sp>
        <p:nvSpPr>
          <p:cNvPr id="17" name="Rounded Rectangle 16"/>
          <p:cNvSpPr/>
          <p:nvPr/>
        </p:nvSpPr>
        <p:spPr>
          <a:xfrm>
            <a:off x="8183879" y="3566160"/>
            <a:ext cx="3520440" cy="2194560"/>
          </a:xfrm>
          <a:prstGeom prst="roundRect">
            <a:avLst>
              <a:gd name="adj" fmla="val 7000"/>
            </a:avLst>
          </a:prstGeom>
          <a:solidFill>
            <a:srgbClr val="FDF3E3"/>
          </a:solidFill>
          <a:ln w="16510">
            <a:solidFill>
              <a:srgbClr val="F2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3703320"/>
            <a:ext cx="3108960" cy="457200"/>
          </a:xfrm>
          <a:prstGeom prst="rect">
            <a:avLst/>
          </a:prstGeom>
          <a:noFill/>
        </p:spPr>
        <p:txBody>
          <a:bodyPr wrap="square" anchor="t">
            <a:spAutoFit/>
          </a:bodyPr>
          <a:lstStyle/>
          <a:p>
            <a:pPr algn="l">
              <a:lnSpc>
                <a:spcPct val="100000"/>
              </a:lnSpc>
            </a:pPr>
            <a:r>
              <a:rPr sz="1400" b="1" i="0">
                <a:solidFill>
                  <a:srgbClr val="F2A82B"/>
                </a:solidFill>
                <a:latin typeface="Calibri"/>
              </a:rPr>
              <a:t>FOUR-PHASE</a:t>
            </a:r>
          </a:p>
        </p:txBody>
      </p:sp>
      <p:sp>
        <p:nvSpPr>
          <p:cNvPr id="19" name="TextBox 18"/>
          <p:cNvSpPr txBox="1"/>
          <p:nvPr/>
        </p:nvSpPr>
        <p:spPr>
          <a:xfrm>
            <a:off x="8412480" y="4114800"/>
            <a:ext cx="3108960" cy="1554480"/>
          </a:xfrm>
          <a:prstGeom prst="rect">
            <a:avLst/>
          </a:prstGeom>
          <a:noFill/>
        </p:spPr>
        <p:txBody>
          <a:bodyPr wrap="square" anchor="t">
            <a:spAutoFit/>
          </a:bodyPr>
          <a:lstStyle/>
          <a:p>
            <a:pPr algn="l">
              <a:lnSpc>
                <a:spcPct val="105000"/>
              </a:lnSpc>
            </a:pPr>
            <a:r>
              <a:rPr sz="1300" b="0" i="0">
                <a:solidFill>
                  <a:srgbClr val="222A33"/>
                </a:solidFill>
                <a:latin typeface="Calibri"/>
              </a:rPr>
              <a:t>Beats fixed-time &amp; Webster — but a near-optimal actuated rule stays ahead. Even PressLight &amp; PDLight didn't beat it here. (Honest, literature-consistent.)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Discussion</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11</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1732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41732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159105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159105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16" name="TextBox 15"/>
          <p:cNvSpPr txBox="1"/>
          <p:nvPr/>
        </p:nvSpPr>
        <p:spPr>
          <a:xfrm>
            <a:off x="1325880" y="141732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The DQN's edge is REAL-TIME RESPONSIVENESS — it never wastes green on an empty approach.</a:t>
            </a:r>
          </a:p>
        </p:txBody>
      </p:sp>
      <p:sp>
        <p:nvSpPr>
          <p:cNvPr id="17" name="Rounded Rectangle 16"/>
          <p:cNvSpPr/>
          <p:nvPr/>
        </p:nvSpPr>
        <p:spPr>
          <a:xfrm>
            <a:off x="548640" y="224028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224028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41401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241401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21" name="TextBox 20"/>
          <p:cNvSpPr txBox="1"/>
          <p:nvPr/>
        </p:nvSpPr>
        <p:spPr>
          <a:xfrm>
            <a:off x="1325880" y="224028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Gains are largest under imbalanced / variable demand; smallest under balanced, steady demand.</a:t>
            </a:r>
          </a:p>
        </p:txBody>
      </p:sp>
      <p:sp>
        <p:nvSpPr>
          <p:cNvPr id="22" name="Rounded Rectangle 21"/>
          <p:cNvSpPr/>
          <p:nvPr/>
        </p:nvSpPr>
        <p:spPr>
          <a:xfrm>
            <a:off x="548640" y="306324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3063240"/>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4672" y="3236976"/>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23697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26" name="TextBox 25"/>
          <p:cNvSpPr txBox="1"/>
          <p:nvPr/>
        </p:nvSpPr>
        <p:spPr>
          <a:xfrm>
            <a:off x="1325880" y="306324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For protected 4-phase junctions, a simple actuated rule is already near-optimal.</a:t>
            </a:r>
          </a:p>
        </p:txBody>
      </p:sp>
      <p:sp>
        <p:nvSpPr>
          <p:cNvPr id="27" name="Rounded Rectangle 26"/>
          <p:cNvSpPr/>
          <p:nvPr/>
        </p:nvSpPr>
        <p:spPr>
          <a:xfrm>
            <a:off x="548640" y="388620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3886200"/>
            <a:ext cx="109728" cy="676656"/>
          </a:xfrm>
          <a:prstGeom prst="roundRect">
            <a:avLst>
              <a:gd name="adj" fmla="val 5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4672" y="4059936"/>
            <a:ext cx="329184" cy="32918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405993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4</a:t>
            </a:r>
          </a:p>
        </p:txBody>
      </p:sp>
      <p:sp>
        <p:nvSpPr>
          <p:cNvPr id="31" name="TextBox 30"/>
          <p:cNvSpPr txBox="1"/>
          <p:nvPr/>
        </p:nvSpPr>
        <p:spPr>
          <a:xfrm>
            <a:off x="1325880" y="388620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Findings align with traffic-engineering theory and meet all five objectives.</a:t>
            </a:r>
          </a:p>
        </p:txBody>
      </p:sp>
      <p:sp>
        <p:nvSpPr>
          <p:cNvPr id="32" name="Rounded Rectangle 31"/>
          <p:cNvSpPr/>
          <p:nvPr/>
        </p:nvSpPr>
        <p:spPr>
          <a:xfrm>
            <a:off x="548640" y="4892040"/>
            <a:ext cx="11064240" cy="1005840"/>
          </a:xfrm>
          <a:prstGeom prst="roundRect">
            <a:avLst>
              <a:gd name="adj" fmla="val 8000"/>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892040"/>
            <a:ext cx="10332720" cy="1005840"/>
          </a:xfrm>
          <a:prstGeom prst="rect">
            <a:avLst/>
          </a:prstGeom>
          <a:noFill/>
        </p:spPr>
        <p:txBody>
          <a:bodyPr wrap="square" anchor="ctr">
            <a:spAutoFit/>
          </a:bodyPr>
          <a:lstStyle/>
          <a:p>
            <a:pPr algn="l">
              <a:lnSpc>
                <a:spcPct val="100000"/>
              </a:lnSpc>
            </a:pPr>
            <a:r>
              <a:rPr sz="1700" b="1" i="0">
                <a:solidFill>
                  <a:srgbClr val="FFFFFF"/>
                </a:solidFill>
                <a:latin typeface="Calibri"/>
              </a:rPr>
              <a:t>Deployment guidance: use RL on conventional two-phase junctions under heavy, imbalanced Lagos peak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Challenges &amp; Limitations</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12</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371600"/>
            <a:ext cx="11064240" cy="1417320"/>
          </a:xfrm>
          <a:prstGeom prst="roundRect">
            <a:avLst>
              <a:gd name="adj" fmla="val 5000"/>
            </a:avLst>
          </a:prstGeom>
          <a:solidFill>
            <a:srgbClr val="FDF3E3"/>
          </a:solidFill>
          <a:ln w="19050">
            <a:solidFill>
              <a:srgbClr val="F2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481328"/>
            <a:ext cx="10424160" cy="457200"/>
          </a:xfrm>
          <a:prstGeom prst="rect">
            <a:avLst/>
          </a:prstGeom>
          <a:noFill/>
        </p:spPr>
        <p:txBody>
          <a:bodyPr wrap="square" anchor="t">
            <a:spAutoFit/>
          </a:bodyPr>
          <a:lstStyle/>
          <a:p>
            <a:pPr algn="l">
              <a:lnSpc>
                <a:spcPct val="100000"/>
              </a:lnSpc>
            </a:pPr>
            <a:r>
              <a:rPr sz="1500" b="1" i="0">
                <a:solidFill>
                  <a:srgbClr val="F2A82B"/>
                </a:solidFill>
                <a:latin typeface="Calibri"/>
              </a:rPr>
              <a:t>KEY CHALLENGE — POLICY COLLAPSE</a:t>
            </a:r>
          </a:p>
        </p:txBody>
      </p:sp>
      <p:sp>
        <p:nvSpPr>
          <p:cNvPr id="14" name="TextBox 13"/>
          <p:cNvSpPr txBox="1"/>
          <p:nvPr/>
        </p:nvSpPr>
        <p:spPr>
          <a:xfrm>
            <a:off x="868680" y="1901952"/>
            <a:ext cx="10424160" cy="868680"/>
          </a:xfrm>
          <a:prstGeom prst="rect">
            <a:avLst/>
          </a:prstGeom>
          <a:noFill/>
        </p:spPr>
        <p:txBody>
          <a:bodyPr wrap="square" anchor="t">
            <a:spAutoFit/>
          </a:bodyPr>
          <a:lstStyle/>
          <a:p>
            <a:pPr algn="l">
              <a:lnSpc>
                <a:spcPct val="105000"/>
              </a:lnSpc>
            </a:pPr>
            <a:r>
              <a:rPr sz="1500" b="0" i="0">
                <a:solidFill>
                  <a:srgbClr val="222A33"/>
                </a:solidFill>
                <a:latin typeface="Calibri"/>
              </a:rPr>
              <a:t>The agent first learned to serve only one approach. Diagnosed as a state–reward mismatch (partial observability) and fixed by exposing accumulated wait in the state.</a:t>
            </a:r>
          </a:p>
        </p:txBody>
      </p:sp>
      <p:sp>
        <p:nvSpPr>
          <p:cNvPr id="15" name="Rounded Rectangle 14"/>
          <p:cNvSpPr/>
          <p:nvPr/>
        </p:nvSpPr>
        <p:spPr>
          <a:xfrm>
            <a:off x="548640" y="301752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01752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2" y="319125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19125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19" name="TextBox 18"/>
          <p:cNvSpPr txBox="1"/>
          <p:nvPr/>
        </p:nvSpPr>
        <p:spPr>
          <a:xfrm>
            <a:off x="1325880" y="301752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Simulation-based; demand estimated, not measured at the junction.</a:t>
            </a:r>
          </a:p>
        </p:txBody>
      </p:sp>
      <p:sp>
        <p:nvSpPr>
          <p:cNvPr id="20" name="Rounded Rectangle 19"/>
          <p:cNvSpPr/>
          <p:nvPr/>
        </p:nvSpPr>
        <p:spPr>
          <a:xfrm>
            <a:off x="548640" y="384048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384048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01421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01421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24" name="TextBox 23"/>
          <p:cNvSpPr txBox="1"/>
          <p:nvPr/>
        </p:nvSpPr>
        <p:spPr>
          <a:xfrm>
            <a:off x="1325880" y="384048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Single junction — corridor (multi-junction) coordination not addressed.</a:t>
            </a:r>
          </a:p>
        </p:txBody>
      </p:sp>
      <p:sp>
        <p:nvSpPr>
          <p:cNvPr id="25" name="Rounded Rectangle 24"/>
          <p:cNvSpPr/>
          <p:nvPr/>
        </p:nvSpPr>
        <p:spPr>
          <a:xfrm>
            <a:off x="548640" y="466344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4663440"/>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4837176"/>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83717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29" name="TextBox 28"/>
          <p:cNvSpPr txBox="1"/>
          <p:nvPr/>
        </p:nvSpPr>
        <p:spPr>
          <a:xfrm>
            <a:off x="1325880" y="466344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Actuated superior on 4-phase; YOLO field accuracy not yet quantified.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Conclusion</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13</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17320"/>
            <a:ext cx="3566160" cy="17373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417320"/>
            <a:ext cx="3566160" cy="12801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91640"/>
            <a:ext cx="3566160" cy="822960"/>
          </a:xfrm>
          <a:prstGeom prst="rect">
            <a:avLst/>
          </a:prstGeom>
          <a:noFill/>
        </p:spPr>
        <p:txBody>
          <a:bodyPr wrap="square" anchor="t">
            <a:spAutoFit/>
          </a:bodyPr>
          <a:lstStyle/>
          <a:p>
            <a:pPr algn="ctr">
              <a:lnSpc>
                <a:spcPct val="100000"/>
              </a:lnSpc>
            </a:pPr>
            <a:r>
              <a:rPr sz="4000" b="1" i="0">
                <a:solidFill>
                  <a:srgbClr val="1F9D55"/>
                </a:solidFill>
                <a:latin typeface="Calibri"/>
              </a:rPr>
              <a:t>16–76%</a:t>
            </a:r>
          </a:p>
        </p:txBody>
      </p:sp>
      <p:sp>
        <p:nvSpPr>
          <p:cNvPr id="15" name="TextBox 14"/>
          <p:cNvSpPr txBox="1"/>
          <p:nvPr/>
        </p:nvSpPr>
        <p:spPr>
          <a:xfrm>
            <a:off x="548640" y="2587752"/>
            <a:ext cx="3566160" cy="457200"/>
          </a:xfrm>
          <a:prstGeom prst="rect">
            <a:avLst/>
          </a:prstGeom>
          <a:noFill/>
        </p:spPr>
        <p:txBody>
          <a:bodyPr wrap="square" anchor="t">
            <a:spAutoFit/>
          </a:bodyPr>
          <a:lstStyle/>
          <a:p>
            <a:pPr algn="ctr">
              <a:lnSpc>
                <a:spcPct val="100000"/>
              </a:lnSpc>
            </a:pPr>
            <a:r>
              <a:rPr sz="1300" b="1" i="0">
                <a:solidFill>
                  <a:srgbClr val="6B7686"/>
                </a:solidFill>
                <a:latin typeface="Calibri"/>
              </a:rPr>
              <a:t>delay cut on TWO-PHASE</a:t>
            </a:r>
          </a:p>
          <a:p>
            <a:pPr algn="ctr">
              <a:lnSpc>
                <a:spcPct val="100000"/>
              </a:lnSpc>
            </a:pPr>
            <a:r>
              <a:rPr sz="1300" b="1" i="0">
                <a:solidFill>
                  <a:srgbClr val="6B7686"/>
                </a:solidFill>
                <a:latin typeface="Calibri"/>
              </a:rPr>
              <a:t>vs all baselines</a:t>
            </a:r>
          </a:p>
        </p:txBody>
      </p:sp>
      <p:sp>
        <p:nvSpPr>
          <p:cNvPr id="16" name="Rounded Rectangle 15"/>
          <p:cNvSpPr/>
          <p:nvPr/>
        </p:nvSpPr>
        <p:spPr>
          <a:xfrm>
            <a:off x="4297680" y="1417320"/>
            <a:ext cx="3566160" cy="17373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97680" y="1417320"/>
            <a:ext cx="3566160" cy="12801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691640"/>
            <a:ext cx="3566160" cy="822960"/>
          </a:xfrm>
          <a:prstGeom prst="rect">
            <a:avLst/>
          </a:prstGeom>
          <a:noFill/>
        </p:spPr>
        <p:txBody>
          <a:bodyPr wrap="square" anchor="t">
            <a:spAutoFit/>
          </a:bodyPr>
          <a:lstStyle/>
          <a:p>
            <a:pPr algn="ctr">
              <a:lnSpc>
                <a:spcPct val="100000"/>
              </a:lnSpc>
            </a:pPr>
            <a:r>
              <a:rPr sz="4000" b="1" i="0">
                <a:solidFill>
                  <a:srgbClr val="1B327A"/>
                </a:solidFill>
                <a:latin typeface="Calibri"/>
              </a:rPr>
              <a:t>4 / 4</a:t>
            </a:r>
          </a:p>
        </p:txBody>
      </p:sp>
      <p:sp>
        <p:nvSpPr>
          <p:cNvPr id="19" name="TextBox 18"/>
          <p:cNvSpPr txBox="1"/>
          <p:nvPr/>
        </p:nvSpPr>
        <p:spPr>
          <a:xfrm>
            <a:off x="4297680" y="2587752"/>
            <a:ext cx="3566160" cy="457200"/>
          </a:xfrm>
          <a:prstGeom prst="rect">
            <a:avLst/>
          </a:prstGeom>
          <a:noFill/>
        </p:spPr>
        <p:txBody>
          <a:bodyPr wrap="square" anchor="t">
            <a:spAutoFit/>
          </a:bodyPr>
          <a:lstStyle/>
          <a:p>
            <a:pPr algn="ctr">
              <a:lnSpc>
                <a:spcPct val="100000"/>
              </a:lnSpc>
            </a:pPr>
            <a:r>
              <a:rPr sz="1300" b="1" i="0">
                <a:solidFill>
                  <a:srgbClr val="6B7686"/>
                </a:solidFill>
                <a:latin typeface="Calibri"/>
              </a:rPr>
              <a:t>demand patterns won</a:t>
            </a:r>
          </a:p>
          <a:p>
            <a:pPr algn="ctr">
              <a:lnSpc>
                <a:spcPct val="100000"/>
              </a:lnSpc>
            </a:pPr>
            <a:r>
              <a:rPr sz="1300" b="1" i="0">
                <a:solidFill>
                  <a:srgbClr val="6B7686"/>
                </a:solidFill>
                <a:latin typeface="Calibri"/>
              </a:rPr>
              <a:t>on two-phase</a:t>
            </a:r>
          </a:p>
        </p:txBody>
      </p:sp>
      <p:sp>
        <p:nvSpPr>
          <p:cNvPr id="20" name="Rounded Rectangle 19"/>
          <p:cNvSpPr/>
          <p:nvPr/>
        </p:nvSpPr>
        <p:spPr>
          <a:xfrm>
            <a:off x="8046720" y="1417320"/>
            <a:ext cx="3566160" cy="1737360"/>
          </a:xfrm>
          <a:prstGeom prst="roundRect">
            <a:avLst>
              <a:gd name="adj" fmla="val 12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0" y="1417320"/>
            <a:ext cx="3566160" cy="12801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1691640"/>
            <a:ext cx="3566160" cy="822960"/>
          </a:xfrm>
          <a:prstGeom prst="rect">
            <a:avLst/>
          </a:prstGeom>
          <a:noFill/>
        </p:spPr>
        <p:txBody>
          <a:bodyPr wrap="square" anchor="t">
            <a:spAutoFit/>
          </a:bodyPr>
          <a:lstStyle/>
          <a:p>
            <a:pPr algn="ctr">
              <a:lnSpc>
                <a:spcPct val="100000"/>
              </a:lnSpc>
            </a:pPr>
            <a:r>
              <a:rPr sz="4000" b="1" i="0">
                <a:solidFill>
                  <a:srgbClr val="F2A82B"/>
                </a:solidFill>
                <a:latin typeface="Calibri"/>
              </a:rPr>
              <a:t>Real</a:t>
            </a:r>
          </a:p>
        </p:txBody>
      </p:sp>
      <p:sp>
        <p:nvSpPr>
          <p:cNvPr id="23" name="TextBox 22"/>
          <p:cNvSpPr txBox="1"/>
          <p:nvPr/>
        </p:nvSpPr>
        <p:spPr>
          <a:xfrm>
            <a:off x="8046720" y="2587752"/>
            <a:ext cx="3566160" cy="457200"/>
          </a:xfrm>
          <a:prstGeom prst="rect">
            <a:avLst/>
          </a:prstGeom>
          <a:noFill/>
        </p:spPr>
        <p:txBody>
          <a:bodyPr wrap="square" anchor="t">
            <a:spAutoFit/>
          </a:bodyPr>
          <a:lstStyle/>
          <a:p>
            <a:pPr algn="ctr">
              <a:lnSpc>
                <a:spcPct val="100000"/>
              </a:lnSpc>
            </a:pPr>
            <a:r>
              <a:rPr sz="1300" b="1" i="0">
                <a:solidFill>
                  <a:srgbClr val="6B7686"/>
                </a:solidFill>
                <a:latin typeface="Calibri"/>
              </a:rPr>
              <a:t>Ikeja junction from</a:t>
            </a:r>
          </a:p>
          <a:p>
            <a:pPr algn="ctr">
              <a:lnSpc>
                <a:spcPct val="100000"/>
              </a:lnSpc>
            </a:pPr>
            <a:r>
              <a:rPr sz="1300" b="1" i="0">
                <a:solidFill>
                  <a:srgbClr val="6B7686"/>
                </a:solidFill>
                <a:latin typeface="Calibri"/>
              </a:rPr>
              <a:t>OpenStreetMap</a:t>
            </a:r>
          </a:p>
        </p:txBody>
      </p:sp>
      <p:sp>
        <p:nvSpPr>
          <p:cNvPr id="24" name="Rounded Rectangle 23"/>
          <p:cNvSpPr/>
          <p:nvPr/>
        </p:nvSpPr>
        <p:spPr>
          <a:xfrm>
            <a:off x="548640" y="342900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42900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360273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360273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28" name="TextBox 27"/>
          <p:cNvSpPr txBox="1"/>
          <p:nvPr/>
        </p:nvSpPr>
        <p:spPr>
          <a:xfrm>
            <a:off x="1325880" y="342900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Two-phase: DQN beat fixed-time, Webster AND actuated on every demand pattern.</a:t>
            </a:r>
          </a:p>
        </p:txBody>
      </p:sp>
      <p:sp>
        <p:nvSpPr>
          <p:cNvPr id="29" name="Rounded Rectangle 28"/>
          <p:cNvSpPr/>
          <p:nvPr/>
        </p:nvSpPr>
        <p:spPr>
          <a:xfrm>
            <a:off x="548640" y="425196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425196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4672" y="442569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42569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33" name="TextBox 32"/>
          <p:cNvSpPr txBox="1"/>
          <p:nvPr/>
        </p:nvSpPr>
        <p:spPr>
          <a:xfrm>
            <a:off x="1325880" y="425196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Four-phase: beat fixed-time and Webster; a gap-out actuated controller remained best.</a:t>
            </a:r>
          </a:p>
        </p:txBody>
      </p:sp>
      <p:sp>
        <p:nvSpPr>
          <p:cNvPr id="34" name="Rounded Rectangle 33"/>
          <p:cNvSpPr/>
          <p:nvPr/>
        </p:nvSpPr>
        <p:spPr>
          <a:xfrm>
            <a:off x="548640" y="5074920"/>
            <a:ext cx="1106424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8640" y="5074920"/>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4672" y="5248656"/>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4865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38" name="TextBox 37"/>
          <p:cNvSpPr txBox="1"/>
          <p:nvPr/>
        </p:nvSpPr>
        <p:spPr>
          <a:xfrm>
            <a:off x="1325880" y="5074920"/>
            <a:ext cx="10149840" cy="676656"/>
          </a:xfrm>
          <a:prstGeom prst="rect">
            <a:avLst/>
          </a:prstGeom>
          <a:noFill/>
        </p:spPr>
        <p:txBody>
          <a:bodyPr wrap="square" anchor="ctr">
            <a:spAutoFit/>
          </a:bodyPr>
          <a:lstStyle/>
          <a:p>
            <a:pPr algn="l">
              <a:lnSpc>
                <a:spcPct val="100000"/>
              </a:lnSpc>
            </a:pPr>
            <a:r>
              <a:rPr sz="1650" b="1" i="0">
                <a:solidFill>
                  <a:srgbClr val="222A33"/>
                </a:solidFill>
                <a:latin typeface="Calibri"/>
              </a:rPr>
              <a:t>Most valuable for two-phase junctions under heavy, imbalanced Lagos peak traffic.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Recommendations &amp; Future Work</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14</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554480"/>
            <a:ext cx="544068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5448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172821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172821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1</a:t>
            </a:r>
          </a:p>
        </p:txBody>
      </p:sp>
      <p:sp>
        <p:nvSpPr>
          <p:cNvPr id="16" name="TextBox 15"/>
          <p:cNvSpPr txBox="1"/>
          <p:nvPr/>
        </p:nvSpPr>
        <p:spPr>
          <a:xfrm>
            <a:off x="1325880" y="1554480"/>
            <a:ext cx="4526280" cy="676656"/>
          </a:xfrm>
          <a:prstGeom prst="rect">
            <a:avLst/>
          </a:prstGeom>
          <a:noFill/>
        </p:spPr>
        <p:txBody>
          <a:bodyPr wrap="square" anchor="ctr">
            <a:spAutoFit/>
          </a:bodyPr>
          <a:lstStyle/>
          <a:p>
            <a:pPr algn="l">
              <a:lnSpc>
                <a:spcPct val="100000"/>
              </a:lnSpc>
            </a:pPr>
            <a:r>
              <a:rPr sz="1650" b="1" i="0">
                <a:solidFill>
                  <a:srgbClr val="222A33"/>
                </a:solidFill>
                <a:latin typeface="Calibri"/>
              </a:rPr>
              <a:t>Collect field data — run the project's YOLO on real junction footage.</a:t>
            </a:r>
          </a:p>
        </p:txBody>
      </p:sp>
      <p:sp>
        <p:nvSpPr>
          <p:cNvPr id="17" name="Rounded Rectangle 16"/>
          <p:cNvSpPr/>
          <p:nvPr/>
        </p:nvSpPr>
        <p:spPr>
          <a:xfrm>
            <a:off x="6172200" y="1554480"/>
            <a:ext cx="544068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55448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28232" y="172821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72821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2</a:t>
            </a:r>
          </a:p>
        </p:txBody>
      </p:sp>
      <p:sp>
        <p:nvSpPr>
          <p:cNvPr id="21" name="TextBox 20"/>
          <p:cNvSpPr txBox="1"/>
          <p:nvPr/>
        </p:nvSpPr>
        <p:spPr>
          <a:xfrm>
            <a:off x="6949440" y="1554480"/>
            <a:ext cx="4526280" cy="676656"/>
          </a:xfrm>
          <a:prstGeom prst="rect">
            <a:avLst/>
          </a:prstGeom>
          <a:noFill/>
        </p:spPr>
        <p:txBody>
          <a:bodyPr wrap="square" anchor="ctr">
            <a:spAutoFit/>
          </a:bodyPr>
          <a:lstStyle/>
          <a:p>
            <a:pPr algn="l">
              <a:lnSpc>
                <a:spcPct val="100000"/>
              </a:lnSpc>
            </a:pPr>
            <a:r>
              <a:rPr sz="1650" b="1" i="0">
                <a:solidFill>
                  <a:srgbClr val="222A33"/>
                </a:solidFill>
                <a:latin typeface="Calibri"/>
              </a:rPr>
              <a:t>Extend to corridor (multi-agent) control along Obafemi Awolowo Way.</a:t>
            </a:r>
          </a:p>
        </p:txBody>
      </p:sp>
      <p:sp>
        <p:nvSpPr>
          <p:cNvPr id="22" name="Rounded Rectangle 21"/>
          <p:cNvSpPr/>
          <p:nvPr/>
        </p:nvSpPr>
        <p:spPr>
          <a:xfrm>
            <a:off x="548640" y="2971800"/>
            <a:ext cx="544068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2971800"/>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4672" y="3145536"/>
            <a:ext cx="329184" cy="329184"/>
          </a:xfrm>
          <a:prstGeom prst="ellipse">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14553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3</a:t>
            </a:r>
          </a:p>
        </p:txBody>
      </p:sp>
      <p:sp>
        <p:nvSpPr>
          <p:cNvPr id="26" name="TextBox 25"/>
          <p:cNvSpPr txBox="1"/>
          <p:nvPr/>
        </p:nvSpPr>
        <p:spPr>
          <a:xfrm>
            <a:off x="1325880" y="2971800"/>
            <a:ext cx="4526280" cy="676656"/>
          </a:xfrm>
          <a:prstGeom prst="rect">
            <a:avLst/>
          </a:prstGeom>
          <a:noFill/>
        </p:spPr>
        <p:txBody>
          <a:bodyPr wrap="square" anchor="ctr">
            <a:spAutoFit/>
          </a:bodyPr>
          <a:lstStyle/>
          <a:p>
            <a:pPr algn="l">
              <a:lnSpc>
                <a:spcPct val="100000"/>
              </a:lnSpc>
            </a:pPr>
            <a:r>
              <a:rPr sz="1650" b="1" i="0">
                <a:solidFill>
                  <a:srgbClr val="222A33"/>
                </a:solidFill>
                <a:latin typeface="Calibri"/>
              </a:rPr>
              <a:t>Add a throughput-aware / max-pressure term to the reward.</a:t>
            </a:r>
          </a:p>
        </p:txBody>
      </p:sp>
      <p:sp>
        <p:nvSpPr>
          <p:cNvPr id="27" name="Rounded Rectangle 26"/>
          <p:cNvSpPr/>
          <p:nvPr/>
        </p:nvSpPr>
        <p:spPr>
          <a:xfrm>
            <a:off x="6172200" y="2971800"/>
            <a:ext cx="544068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172200" y="2971800"/>
            <a:ext cx="109728" cy="676656"/>
          </a:xfrm>
          <a:prstGeom prst="roundRect">
            <a:avLst>
              <a:gd name="adj" fmla="val 5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28232" y="3145536"/>
            <a:ext cx="329184" cy="32918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2" y="314553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4</a:t>
            </a:r>
          </a:p>
        </p:txBody>
      </p:sp>
      <p:sp>
        <p:nvSpPr>
          <p:cNvPr id="31" name="TextBox 30"/>
          <p:cNvSpPr txBox="1"/>
          <p:nvPr/>
        </p:nvSpPr>
        <p:spPr>
          <a:xfrm>
            <a:off x="6949440" y="2971800"/>
            <a:ext cx="4526280" cy="676656"/>
          </a:xfrm>
          <a:prstGeom prst="rect">
            <a:avLst/>
          </a:prstGeom>
          <a:noFill/>
        </p:spPr>
        <p:txBody>
          <a:bodyPr wrap="square" anchor="ctr">
            <a:spAutoFit/>
          </a:bodyPr>
          <a:lstStyle/>
          <a:p>
            <a:pPr algn="l">
              <a:lnSpc>
                <a:spcPct val="100000"/>
              </a:lnSpc>
            </a:pPr>
            <a:r>
              <a:rPr sz="1650" b="1" i="0">
                <a:solidFill>
                  <a:srgbClr val="222A33"/>
                </a:solidFill>
                <a:latin typeface="Calibri"/>
              </a:rPr>
              <a:t>Robust perception — fine-tune for okada and keke under Lagos conditions.</a:t>
            </a:r>
          </a:p>
        </p:txBody>
      </p:sp>
      <p:sp>
        <p:nvSpPr>
          <p:cNvPr id="32" name="Rounded Rectangle 31"/>
          <p:cNvSpPr/>
          <p:nvPr/>
        </p:nvSpPr>
        <p:spPr>
          <a:xfrm>
            <a:off x="548640" y="4389120"/>
            <a:ext cx="544068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48640" y="438912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4672" y="4562856"/>
            <a:ext cx="329184" cy="32918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56285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5</a:t>
            </a:r>
          </a:p>
        </p:txBody>
      </p:sp>
      <p:sp>
        <p:nvSpPr>
          <p:cNvPr id="36" name="TextBox 35"/>
          <p:cNvSpPr txBox="1"/>
          <p:nvPr/>
        </p:nvSpPr>
        <p:spPr>
          <a:xfrm>
            <a:off x="1325880" y="4389120"/>
            <a:ext cx="4526280" cy="676656"/>
          </a:xfrm>
          <a:prstGeom prst="rect">
            <a:avLst/>
          </a:prstGeom>
          <a:noFill/>
        </p:spPr>
        <p:txBody>
          <a:bodyPr wrap="square" anchor="ctr">
            <a:spAutoFit/>
          </a:bodyPr>
          <a:lstStyle/>
          <a:p>
            <a:pPr algn="l">
              <a:lnSpc>
                <a:spcPct val="100000"/>
              </a:lnSpc>
            </a:pPr>
            <a:r>
              <a:rPr sz="1650" b="1" i="0">
                <a:solidFill>
                  <a:srgbClr val="222A33"/>
                </a:solidFill>
                <a:latin typeface="Calibri"/>
              </a:rPr>
              <a:t>Hardware pilot — supervised Raspberry Pi + GPIO with a safety fallback.</a:t>
            </a:r>
          </a:p>
        </p:txBody>
      </p:sp>
      <p:sp>
        <p:nvSpPr>
          <p:cNvPr id="37" name="Rounded Rectangle 36"/>
          <p:cNvSpPr/>
          <p:nvPr/>
        </p:nvSpPr>
        <p:spPr>
          <a:xfrm>
            <a:off x="6172200" y="4389120"/>
            <a:ext cx="5440680" cy="676656"/>
          </a:xfrm>
          <a:prstGeom prst="roundRect">
            <a:avLst>
              <a:gd name="adj" fmla="val 14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72200" y="438912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428232" y="4562856"/>
            <a:ext cx="329184" cy="32918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8232" y="4562856"/>
            <a:ext cx="329184" cy="329184"/>
          </a:xfrm>
          <a:prstGeom prst="rect">
            <a:avLst/>
          </a:prstGeom>
          <a:noFill/>
        </p:spPr>
        <p:txBody>
          <a:bodyPr wrap="square" anchor="ctr">
            <a:spAutoFit/>
          </a:bodyPr>
          <a:lstStyle/>
          <a:p>
            <a:pPr algn="ctr">
              <a:lnSpc>
                <a:spcPct val="100000"/>
              </a:lnSpc>
            </a:pPr>
            <a:r>
              <a:rPr sz="1300" b="1" i="0">
                <a:solidFill>
                  <a:srgbClr val="FFFFFF"/>
                </a:solidFill>
                <a:latin typeface="Calibri"/>
              </a:rPr>
              <a:t>6</a:t>
            </a:r>
          </a:p>
        </p:txBody>
      </p:sp>
      <p:sp>
        <p:nvSpPr>
          <p:cNvPr id="41" name="TextBox 40"/>
          <p:cNvSpPr txBox="1"/>
          <p:nvPr/>
        </p:nvSpPr>
        <p:spPr>
          <a:xfrm>
            <a:off x="6949440" y="4389120"/>
            <a:ext cx="4526280" cy="676656"/>
          </a:xfrm>
          <a:prstGeom prst="rect">
            <a:avLst/>
          </a:prstGeom>
          <a:noFill/>
        </p:spPr>
        <p:txBody>
          <a:bodyPr wrap="square" anchor="ctr">
            <a:spAutoFit/>
          </a:bodyPr>
          <a:lstStyle/>
          <a:p>
            <a:pPr algn="l">
              <a:lnSpc>
                <a:spcPct val="100000"/>
              </a:lnSpc>
            </a:pPr>
            <a:r>
              <a:rPr sz="1650" b="1" i="0">
                <a:solidFill>
                  <a:srgbClr val="222A33"/>
                </a:solidFill>
                <a:latin typeface="Calibri"/>
              </a:rPr>
              <a:t>Implement and evaluate emergency-vehicle preemption.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82296"/>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274320"/>
            <a:ext cx="146304" cy="14630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61772"/>
            <a:ext cx="146304" cy="14630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49224"/>
            <a:ext cx="146304" cy="14630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0"/>
            <a:ext cx="10607040" cy="1078992"/>
          </a:xfrm>
          <a:prstGeom prst="rect">
            <a:avLst/>
          </a:prstGeom>
          <a:noFill/>
        </p:spPr>
        <p:txBody>
          <a:bodyPr wrap="square" anchor="ctr">
            <a:spAutoFit/>
          </a:bodyPr>
          <a:lstStyle/>
          <a:p>
            <a:pPr algn="l">
              <a:lnSpc>
                <a:spcPct val="100000"/>
              </a:lnSpc>
            </a:pPr>
            <a:r>
              <a:rPr sz="2800" b="1" i="0">
                <a:solidFill>
                  <a:srgbClr val="FFFFFF"/>
                </a:solidFill>
                <a:latin typeface="Calibri"/>
              </a:rPr>
              <a:t>References</a:t>
            </a:r>
          </a:p>
        </p:txBody>
      </p:sp>
      <p:sp>
        <p:nvSpPr>
          <p:cNvPr id="9" name="Oval 8"/>
          <p:cNvSpPr/>
          <p:nvPr/>
        </p:nvSpPr>
        <p:spPr>
          <a:xfrm>
            <a:off x="11475720" y="6327648"/>
            <a:ext cx="457200" cy="457200"/>
          </a:xfrm>
          <a:prstGeom prst="ellipse">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5720" y="6327648"/>
            <a:ext cx="457200" cy="457200"/>
          </a:xfrm>
          <a:prstGeom prst="rect">
            <a:avLst/>
          </a:prstGeom>
          <a:noFill/>
        </p:spPr>
        <p:txBody>
          <a:bodyPr wrap="square" anchor="ctr">
            <a:spAutoFit/>
          </a:bodyPr>
          <a:lstStyle/>
          <a:p>
            <a:pPr algn="ctr">
              <a:lnSpc>
                <a:spcPct val="100000"/>
              </a:lnSpc>
            </a:pPr>
            <a:r>
              <a:rPr sz="1400" b="1" i="0">
                <a:solidFill>
                  <a:srgbClr val="FFFFFF"/>
                </a:solidFill>
                <a:latin typeface="Calibri"/>
              </a:rPr>
              <a:t>15</a:t>
            </a:r>
          </a:p>
        </p:txBody>
      </p:sp>
      <p:sp>
        <p:nvSpPr>
          <p:cNvPr id="11" name="TextBox 10"/>
          <p:cNvSpPr txBox="1"/>
          <p:nvPr/>
        </p:nvSpPr>
        <p:spPr>
          <a:xfrm>
            <a:off x="502920" y="6382512"/>
            <a:ext cx="8229600" cy="365760"/>
          </a:xfrm>
          <a:prstGeom prst="rect">
            <a:avLst/>
          </a:prstGeom>
          <a:noFill/>
        </p:spPr>
        <p:txBody>
          <a:bodyPr wrap="square" anchor="t">
            <a:spAutoFit/>
          </a:bodyPr>
          <a:lstStyle/>
          <a:p>
            <a:pPr algn="l">
              <a:lnSpc>
                <a:spcPct val="100000"/>
              </a:lnSpc>
            </a:pPr>
            <a:r>
              <a:rPr sz="1050" b="0" i="0">
                <a:solidFill>
                  <a:srgbClr val="6B7686"/>
                </a:solidFill>
                <a:latin typeface="Calibri"/>
              </a:rPr>
              <a:t>Intelligent Traffic Light System · Deep Reinforcement Learning</a:t>
            </a:r>
          </a:p>
        </p:txBody>
      </p:sp>
      <p:sp>
        <p:nvSpPr>
          <p:cNvPr id="12" name="Rounded Rectangle 11"/>
          <p:cNvSpPr/>
          <p:nvPr/>
        </p:nvSpPr>
        <p:spPr>
          <a:xfrm>
            <a:off x="548640" y="1463040"/>
            <a:ext cx="11064240" cy="676656"/>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463040"/>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1463040"/>
            <a:ext cx="10607040" cy="676656"/>
          </a:xfrm>
          <a:prstGeom prst="rect">
            <a:avLst/>
          </a:prstGeom>
          <a:noFill/>
        </p:spPr>
        <p:txBody>
          <a:bodyPr wrap="square" anchor="ctr">
            <a:spAutoFit/>
          </a:bodyPr>
          <a:lstStyle/>
          <a:p>
            <a:pPr algn="l">
              <a:lnSpc>
                <a:spcPct val="100000"/>
              </a:lnSpc>
            </a:pPr>
            <a:r>
              <a:rPr sz="1300" b="0" i="0">
                <a:solidFill>
                  <a:srgbClr val="222A33"/>
                </a:solidFill>
                <a:latin typeface="Calibri"/>
              </a:rPr>
              <a:t>Krajzewicz, D., et al. (2012). Recent development and applications of SUMO. Int. J. Adv. Systems &amp; Measurements, 5(3–4), 128–138.</a:t>
            </a:r>
          </a:p>
        </p:txBody>
      </p:sp>
      <p:sp>
        <p:nvSpPr>
          <p:cNvPr id="15" name="Rounded Rectangle 14"/>
          <p:cNvSpPr/>
          <p:nvPr/>
        </p:nvSpPr>
        <p:spPr>
          <a:xfrm>
            <a:off x="548640" y="2249424"/>
            <a:ext cx="11064240" cy="676656"/>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249424"/>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249424"/>
            <a:ext cx="10607040" cy="676656"/>
          </a:xfrm>
          <a:prstGeom prst="rect">
            <a:avLst/>
          </a:prstGeom>
          <a:noFill/>
        </p:spPr>
        <p:txBody>
          <a:bodyPr wrap="square" anchor="ctr">
            <a:spAutoFit/>
          </a:bodyPr>
          <a:lstStyle/>
          <a:p>
            <a:pPr algn="l">
              <a:lnSpc>
                <a:spcPct val="100000"/>
              </a:lnSpc>
            </a:pPr>
            <a:r>
              <a:rPr sz="1300" b="0" i="0">
                <a:solidFill>
                  <a:srgbClr val="222A33"/>
                </a:solidFill>
                <a:latin typeface="Calibri"/>
              </a:rPr>
              <a:t>Mnih, V., et al. (2015). Human-level control through deep reinforcement learning. Nature, 518, 529–533.</a:t>
            </a:r>
          </a:p>
        </p:txBody>
      </p:sp>
      <p:sp>
        <p:nvSpPr>
          <p:cNvPr id="18" name="Rounded Rectangle 17"/>
          <p:cNvSpPr/>
          <p:nvPr/>
        </p:nvSpPr>
        <p:spPr>
          <a:xfrm>
            <a:off x="548640" y="3035808"/>
            <a:ext cx="11064240" cy="676656"/>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035808"/>
            <a:ext cx="109728" cy="676656"/>
          </a:xfrm>
          <a:prstGeom prst="roundRect">
            <a:avLst>
              <a:gd name="adj" fmla="val 50000"/>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035808"/>
            <a:ext cx="10607040" cy="676656"/>
          </a:xfrm>
          <a:prstGeom prst="rect">
            <a:avLst/>
          </a:prstGeom>
          <a:noFill/>
        </p:spPr>
        <p:txBody>
          <a:bodyPr wrap="square" anchor="ctr">
            <a:spAutoFit/>
          </a:bodyPr>
          <a:lstStyle/>
          <a:p>
            <a:pPr algn="l">
              <a:lnSpc>
                <a:spcPct val="100000"/>
              </a:lnSpc>
            </a:pPr>
            <a:r>
              <a:rPr sz="1300" b="0" i="0">
                <a:solidFill>
                  <a:srgbClr val="222A33"/>
                </a:solidFill>
                <a:latin typeface="Calibri"/>
              </a:rPr>
              <a:t>Sutton, R. S., &amp; Barto, A. G. (2018). Reinforcement Learning: An Introduction (2nd ed.). MIT Press.</a:t>
            </a:r>
          </a:p>
        </p:txBody>
      </p:sp>
      <p:sp>
        <p:nvSpPr>
          <p:cNvPr id="21" name="Rounded Rectangle 20"/>
          <p:cNvSpPr/>
          <p:nvPr/>
        </p:nvSpPr>
        <p:spPr>
          <a:xfrm>
            <a:off x="548640" y="3822191"/>
            <a:ext cx="11064240" cy="676656"/>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3822191"/>
            <a:ext cx="109728" cy="676656"/>
          </a:xfrm>
          <a:prstGeom prst="roundRect">
            <a:avLst>
              <a:gd name="adj" fmla="val 50000"/>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822191"/>
            <a:ext cx="10607040" cy="676656"/>
          </a:xfrm>
          <a:prstGeom prst="rect">
            <a:avLst/>
          </a:prstGeom>
          <a:noFill/>
        </p:spPr>
        <p:txBody>
          <a:bodyPr wrap="square" anchor="ctr">
            <a:spAutoFit/>
          </a:bodyPr>
          <a:lstStyle/>
          <a:p>
            <a:pPr algn="l">
              <a:lnSpc>
                <a:spcPct val="100000"/>
              </a:lnSpc>
            </a:pPr>
            <a:r>
              <a:rPr sz="1300" b="0" i="0">
                <a:solidFill>
                  <a:srgbClr val="222A33"/>
                </a:solidFill>
                <a:latin typeface="Calibri"/>
              </a:rPr>
              <a:t>Webster, F. V. (1958). Traffic Signal Settings. Road Research Technical Paper No. 39. HMSO.</a:t>
            </a:r>
          </a:p>
        </p:txBody>
      </p:sp>
      <p:sp>
        <p:nvSpPr>
          <p:cNvPr id="24" name="Rounded Rectangle 23"/>
          <p:cNvSpPr/>
          <p:nvPr/>
        </p:nvSpPr>
        <p:spPr>
          <a:xfrm>
            <a:off x="548640" y="4608576"/>
            <a:ext cx="11064240" cy="676656"/>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4608576"/>
            <a:ext cx="109728" cy="676656"/>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608576"/>
            <a:ext cx="10607040" cy="676656"/>
          </a:xfrm>
          <a:prstGeom prst="rect">
            <a:avLst/>
          </a:prstGeom>
          <a:noFill/>
        </p:spPr>
        <p:txBody>
          <a:bodyPr wrap="square" anchor="ctr">
            <a:spAutoFit/>
          </a:bodyPr>
          <a:lstStyle/>
          <a:p>
            <a:pPr algn="l">
              <a:lnSpc>
                <a:spcPct val="100000"/>
              </a:lnSpc>
            </a:pPr>
            <a:r>
              <a:rPr sz="1300" b="0" i="0">
                <a:solidFill>
                  <a:srgbClr val="222A33"/>
                </a:solidFill>
                <a:latin typeface="Calibri"/>
              </a:rPr>
              <a:t>Wei, H., et al. (2019). PressLight: Learning max pressure control to coordinate traffic signals. KDD 2019.</a:t>
            </a:r>
          </a:p>
        </p:txBody>
      </p:sp>
      <p:sp>
        <p:nvSpPr>
          <p:cNvPr id="27" name="Rounded Rectangle 26"/>
          <p:cNvSpPr/>
          <p:nvPr/>
        </p:nvSpPr>
        <p:spPr>
          <a:xfrm>
            <a:off x="548640" y="5394960"/>
            <a:ext cx="11064240" cy="676656"/>
          </a:xfrm>
          <a:prstGeom prst="roundRect">
            <a:avLst>
              <a:gd name="adj" fmla="val 10000"/>
            </a:avLst>
          </a:prstGeom>
          <a:solidFill>
            <a:srgbClr val="FFFFFF"/>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394960"/>
            <a:ext cx="109728" cy="676656"/>
          </a:xfrm>
          <a:prstGeom prst="roundRect">
            <a:avLst>
              <a:gd name="adj" fmla="val 50000"/>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394960"/>
            <a:ext cx="10607040" cy="676656"/>
          </a:xfrm>
          <a:prstGeom prst="rect">
            <a:avLst/>
          </a:prstGeom>
          <a:noFill/>
        </p:spPr>
        <p:txBody>
          <a:bodyPr wrap="square" anchor="ctr">
            <a:spAutoFit/>
          </a:bodyPr>
          <a:lstStyle/>
          <a:p>
            <a:pPr algn="l">
              <a:lnSpc>
                <a:spcPct val="100000"/>
              </a:lnSpc>
            </a:pPr>
            <a:r>
              <a:rPr sz="1300" b="0" i="0">
                <a:solidFill>
                  <a:srgbClr val="222A33"/>
                </a:solidFill>
                <a:latin typeface="Calibri"/>
              </a:rPr>
              <a:t>Zhang, C., et al. (2020). PDLight: DRL traffic light control with pressure and dynamic duration. arXiv:2009.13711.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21040" y="0"/>
            <a:ext cx="3867912" cy="6858000"/>
          </a:xfrm>
          <a:prstGeom prst="rect">
            <a:avLst/>
          </a:prstGeom>
          <a:solidFill>
            <a:srgbClr val="1B3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321040" y="0"/>
            <a:ext cx="91440" cy="6858000"/>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29800" y="2377440"/>
            <a:ext cx="914400" cy="2377440"/>
          </a:xfrm>
          <a:prstGeom prst="roundRect">
            <a:avLst>
              <a:gd name="adj" fmla="val 30000"/>
            </a:avLst>
          </a:prstGeom>
          <a:solidFill>
            <a:srgbClr val="0E1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30968" y="2587752"/>
            <a:ext cx="512064" cy="512064"/>
          </a:xfrm>
          <a:prstGeom prst="ellipse">
            <a:avLst/>
          </a:prstGeom>
          <a:solidFill>
            <a:srgbClr val="D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30968" y="3310128"/>
            <a:ext cx="512064" cy="512064"/>
          </a:xfrm>
          <a:prstGeom prst="ellipse">
            <a:avLst/>
          </a:prstGeom>
          <a:solidFill>
            <a:srgbClr val="F2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30968" y="4032504"/>
            <a:ext cx="512064" cy="512064"/>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86000"/>
            <a:ext cx="7315200" cy="1280160"/>
          </a:xfrm>
          <a:prstGeom prst="rect">
            <a:avLst/>
          </a:prstGeom>
          <a:noFill/>
        </p:spPr>
        <p:txBody>
          <a:bodyPr wrap="square" anchor="t">
            <a:spAutoFit/>
          </a:bodyPr>
          <a:lstStyle/>
          <a:p>
            <a:pPr algn="l">
              <a:lnSpc>
                <a:spcPct val="100000"/>
              </a:lnSpc>
            </a:pPr>
            <a:r>
              <a:rPr sz="5600" b="1" i="0">
                <a:solidFill>
                  <a:srgbClr val="FFFFFF"/>
                </a:solidFill>
                <a:latin typeface="Calibri"/>
              </a:rPr>
              <a:t>Thank You</a:t>
            </a:r>
          </a:p>
        </p:txBody>
      </p:sp>
      <p:sp>
        <p:nvSpPr>
          <p:cNvPr id="10" name="Rectangle 9"/>
          <p:cNvSpPr/>
          <p:nvPr/>
        </p:nvSpPr>
        <p:spPr>
          <a:xfrm>
            <a:off x="777240" y="3611880"/>
            <a:ext cx="2194560" cy="54864"/>
          </a:xfrm>
          <a:prstGeom prst="rect">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840480"/>
            <a:ext cx="7315200" cy="640080"/>
          </a:xfrm>
          <a:prstGeom prst="rect">
            <a:avLst/>
          </a:prstGeom>
          <a:noFill/>
        </p:spPr>
        <p:txBody>
          <a:bodyPr wrap="square" anchor="t">
            <a:spAutoFit/>
          </a:bodyPr>
          <a:lstStyle/>
          <a:p>
            <a:pPr algn="l">
              <a:lnSpc>
                <a:spcPct val="100000"/>
              </a:lnSpc>
            </a:pPr>
            <a:r>
              <a:rPr sz="2400" b="0" i="1">
                <a:solidFill>
                  <a:srgbClr val="C7D0E6"/>
                </a:solidFill>
                <a:latin typeface="Calibri"/>
              </a:rPr>
              <a:t>Questions &amp; Discussion</a:t>
            </a:r>
          </a:p>
        </p:txBody>
      </p:sp>
      <p:sp>
        <p:nvSpPr>
          <p:cNvPr id="12" name="TextBox 11"/>
          <p:cNvSpPr txBox="1"/>
          <p:nvPr/>
        </p:nvSpPr>
        <p:spPr>
          <a:xfrm>
            <a:off x="731520" y="4846320"/>
            <a:ext cx="7315200" cy="548640"/>
          </a:xfrm>
          <a:prstGeom prst="rect">
            <a:avLst/>
          </a:prstGeom>
          <a:noFill/>
        </p:spPr>
        <p:txBody>
          <a:bodyPr wrap="square" anchor="t">
            <a:spAutoFit/>
          </a:bodyPr>
          <a:lstStyle/>
          <a:p>
            <a:pPr algn="l">
              <a:lnSpc>
                <a:spcPct val="100000"/>
              </a:lnSpc>
            </a:pPr>
            <a:r>
              <a:rPr sz="2000" b="1" i="0">
                <a:solidFill>
                  <a:srgbClr val="FFFFFF"/>
                </a:solidFill>
                <a:latin typeface="Calibri"/>
              </a:rPr>
              <a:t>Oluwadamilola Samson Oladejo</a:t>
            </a:r>
          </a:p>
        </p:txBody>
      </p:sp>
      <p:sp>
        <p:nvSpPr>
          <p:cNvPr id="13" name="TextBox 12"/>
          <p:cNvSpPr txBox="1"/>
          <p:nvPr/>
        </p:nvSpPr>
        <p:spPr>
          <a:xfrm>
            <a:off x="731520" y="5349240"/>
            <a:ext cx="7315200" cy="457200"/>
          </a:xfrm>
          <a:prstGeom prst="rect">
            <a:avLst/>
          </a:prstGeom>
          <a:noFill/>
        </p:spPr>
        <p:txBody>
          <a:bodyPr wrap="square" anchor="t">
            <a:spAutoFit/>
          </a:bodyPr>
          <a:lstStyle/>
          <a:p>
            <a:pPr algn="l">
              <a:lnSpc>
                <a:spcPct val="100000"/>
              </a:lnSpc>
            </a:pPr>
            <a:r>
              <a:rPr sz="1600" b="0" i="0">
                <a:solidFill>
                  <a:srgbClr val="C7D0E6"/>
                </a:solidFill>
                <a:latin typeface="Calibri"/>
              </a:rPr>
              <a:t>dejodammy7@gmail.com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